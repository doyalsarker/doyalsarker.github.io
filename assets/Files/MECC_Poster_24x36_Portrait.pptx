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21945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648" y="-7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2E6C4-1F14-41A2-ADCC-7B37FBD48027}" type="datetimeFigureOut">
              <a:rPr lang="en-US" smtClean="0"/>
              <a:t>10/22/2024</a:t>
            </a:fld>
            <a:endParaRPr lang="en-US"/>
          </a:p>
        </p:txBody>
      </p:sp>
      <p:sp>
        <p:nvSpPr>
          <p:cNvPr id="4" name="Slide Image Placeholder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E2B479-B56A-4F41-B029-4AA5AC930FEE}" type="slidenum">
              <a:rPr lang="en-US" smtClean="0"/>
              <a:t>‹#›</a:t>
            </a:fld>
            <a:endParaRPr lang="en-US"/>
          </a:p>
        </p:txBody>
      </p:sp>
    </p:spTree>
    <p:extLst>
      <p:ext uri="{BB962C8B-B14F-4D97-AF65-F5344CB8AC3E}">
        <p14:creationId xmlns:p14="http://schemas.microsoft.com/office/powerpoint/2010/main" val="3018143970"/>
      </p:ext>
    </p:extLst>
  </p:cSld>
  <p:clrMap bg1="lt1" tx1="dk1" bg2="lt2" tx2="dk2" accent1="accent1" accent2="accent2" accent3="accent3" accent4="accent4" accent5="accent5" accent6="accent6" hlink="hlink" folHlink="folHlink"/>
  <p:notesStyle>
    <a:lvl1pPr marL="0" algn="l" defTabSz="3135020" rtl="0" eaLnBrk="1" latinLnBrk="0" hangingPunct="1">
      <a:defRPr sz="4114" kern="1200">
        <a:solidFill>
          <a:schemeClr val="tx1"/>
        </a:solidFill>
        <a:latin typeface="+mn-lt"/>
        <a:ea typeface="+mn-ea"/>
        <a:cs typeface="+mn-cs"/>
      </a:defRPr>
    </a:lvl1pPr>
    <a:lvl2pPr marL="1567510" algn="l" defTabSz="3135020" rtl="0" eaLnBrk="1" latinLnBrk="0" hangingPunct="1">
      <a:defRPr sz="4114" kern="1200">
        <a:solidFill>
          <a:schemeClr val="tx1"/>
        </a:solidFill>
        <a:latin typeface="+mn-lt"/>
        <a:ea typeface="+mn-ea"/>
        <a:cs typeface="+mn-cs"/>
      </a:defRPr>
    </a:lvl2pPr>
    <a:lvl3pPr marL="3135020" algn="l" defTabSz="3135020" rtl="0" eaLnBrk="1" latinLnBrk="0" hangingPunct="1">
      <a:defRPr sz="4114" kern="1200">
        <a:solidFill>
          <a:schemeClr val="tx1"/>
        </a:solidFill>
        <a:latin typeface="+mn-lt"/>
        <a:ea typeface="+mn-ea"/>
        <a:cs typeface="+mn-cs"/>
      </a:defRPr>
    </a:lvl3pPr>
    <a:lvl4pPr marL="4702531" algn="l" defTabSz="3135020" rtl="0" eaLnBrk="1" latinLnBrk="0" hangingPunct="1">
      <a:defRPr sz="4114" kern="1200">
        <a:solidFill>
          <a:schemeClr val="tx1"/>
        </a:solidFill>
        <a:latin typeface="+mn-lt"/>
        <a:ea typeface="+mn-ea"/>
        <a:cs typeface="+mn-cs"/>
      </a:defRPr>
    </a:lvl4pPr>
    <a:lvl5pPr marL="6270041" algn="l" defTabSz="3135020" rtl="0" eaLnBrk="1" latinLnBrk="0" hangingPunct="1">
      <a:defRPr sz="4114" kern="1200">
        <a:solidFill>
          <a:schemeClr val="tx1"/>
        </a:solidFill>
        <a:latin typeface="+mn-lt"/>
        <a:ea typeface="+mn-ea"/>
        <a:cs typeface="+mn-cs"/>
      </a:defRPr>
    </a:lvl5pPr>
    <a:lvl6pPr marL="7837551" algn="l" defTabSz="3135020" rtl="0" eaLnBrk="1" latinLnBrk="0" hangingPunct="1">
      <a:defRPr sz="4114" kern="1200">
        <a:solidFill>
          <a:schemeClr val="tx1"/>
        </a:solidFill>
        <a:latin typeface="+mn-lt"/>
        <a:ea typeface="+mn-ea"/>
        <a:cs typeface="+mn-cs"/>
      </a:defRPr>
    </a:lvl6pPr>
    <a:lvl7pPr marL="9405061" algn="l" defTabSz="3135020" rtl="0" eaLnBrk="1" latinLnBrk="0" hangingPunct="1">
      <a:defRPr sz="4114" kern="1200">
        <a:solidFill>
          <a:schemeClr val="tx1"/>
        </a:solidFill>
        <a:latin typeface="+mn-lt"/>
        <a:ea typeface="+mn-ea"/>
        <a:cs typeface="+mn-cs"/>
      </a:defRPr>
    </a:lvl7pPr>
    <a:lvl8pPr marL="10972571" algn="l" defTabSz="3135020" rtl="0" eaLnBrk="1" latinLnBrk="0" hangingPunct="1">
      <a:defRPr sz="4114" kern="1200">
        <a:solidFill>
          <a:schemeClr val="tx1"/>
        </a:solidFill>
        <a:latin typeface="+mn-lt"/>
        <a:ea typeface="+mn-ea"/>
        <a:cs typeface="+mn-cs"/>
      </a:defRPr>
    </a:lvl8pPr>
    <a:lvl9pPr marL="12540082" algn="l" defTabSz="3135020" rtl="0" eaLnBrk="1" latinLnBrk="0" hangingPunct="1">
      <a:defRPr sz="411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E2B479-B56A-4F41-B029-4AA5AC930FEE}" type="slidenum">
              <a:rPr lang="en-US" smtClean="0"/>
              <a:t>1</a:t>
            </a:fld>
            <a:endParaRPr lang="en-US"/>
          </a:p>
        </p:txBody>
      </p:sp>
    </p:spTree>
    <p:extLst>
      <p:ext uri="{BB962C8B-B14F-4D97-AF65-F5344CB8AC3E}">
        <p14:creationId xmlns:p14="http://schemas.microsoft.com/office/powerpoint/2010/main" val="64025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95807E-0EF9-40A8-9FFF-69337BF76F11}"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2645703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5807E-0EF9-40A8-9FFF-69337BF76F11}"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221535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tint val="82000"/>
                  </a:schemeClr>
                </a:solidFill>
              </a:defRPr>
            </a:lvl1pPr>
            <a:lvl2pPr marL="1097280" indent="0">
              <a:buNone/>
              <a:defRPr sz="4800">
                <a:solidFill>
                  <a:schemeClr val="tx1">
                    <a:tint val="82000"/>
                  </a:schemeClr>
                </a:solidFill>
              </a:defRPr>
            </a:lvl2pPr>
            <a:lvl3pPr marL="2194560" indent="0">
              <a:buNone/>
              <a:defRPr sz="4320">
                <a:solidFill>
                  <a:schemeClr val="tx1">
                    <a:tint val="82000"/>
                  </a:schemeClr>
                </a:solidFill>
              </a:defRPr>
            </a:lvl3pPr>
            <a:lvl4pPr marL="3291840" indent="0">
              <a:buNone/>
              <a:defRPr sz="3840">
                <a:solidFill>
                  <a:schemeClr val="tx1">
                    <a:tint val="82000"/>
                  </a:schemeClr>
                </a:solidFill>
              </a:defRPr>
            </a:lvl4pPr>
            <a:lvl5pPr marL="4389120" indent="0">
              <a:buNone/>
              <a:defRPr sz="3840">
                <a:solidFill>
                  <a:schemeClr val="tx1">
                    <a:tint val="82000"/>
                  </a:schemeClr>
                </a:solidFill>
              </a:defRPr>
            </a:lvl5pPr>
            <a:lvl6pPr marL="5486400" indent="0">
              <a:buNone/>
              <a:defRPr sz="3840">
                <a:solidFill>
                  <a:schemeClr val="tx1">
                    <a:tint val="82000"/>
                  </a:schemeClr>
                </a:solidFill>
              </a:defRPr>
            </a:lvl6pPr>
            <a:lvl7pPr marL="6583680" indent="0">
              <a:buNone/>
              <a:defRPr sz="3840">
                <a:solidFill>
                  <a:schemeClr val="tx1">
                    <a:tint val="82000"/>
                  </a:schemeClr>
                </a:solidFill>
              </a:defRPr>
            </a:lvl7pPr>
            <a:lvl8pPr marL="7680960" indent="0">
              <a:buNone/>
              <a:defRPr sz="3840">
                <a:solidFill>
                  <a:schemeClr val="tx1">
                    <a:tint val="82000"/>
                  </a:schemeClr>
                </a:solidFill>
              </a:defRPr>
            </a:lvl8pPr>
            <a:lvl9pPr marL="8778240" indent="0">
              <a:buNone/>
              <a:defRPr sz="38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95807E-0EF9-40A8-9FFF-69337BF76F11}"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2737601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5807E-0EF9-40A8-9FFF-69337BF76F11}"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2342850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95807E-0EF9-40A8-9FFF-69337BF76F11}" type="datetimeFigureOut">
              <a:rPr lang="en-US" smtClean="0"/>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575874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95807E-0EF9-40A8-9FFF-69337BF76F11}" type="datetimeFigureOut">
              <a:rPr lang="en-US" smtClean="0"/>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898650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95807E-0EF9-40A8-9FFF-69337BF76F11}" type="datetimeFigureOut">
              <a:rPr lang="en-US" smtClean="0"/>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3267206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5C95807E-0EF9-40A8-9FFF-69337BF76F11}"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1828145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5C95807E-0EF9-40A8-9FFF-69337BF76F11}"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2348911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5807E-0EF9-40A8-9FFF-69337BF76F11}"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1067930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95807E-0EF9-40A8-9FFF-69337BF76F11}"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921A97-E4AA-4329-B7E4-1A46565B34F8}" type="slidenum">
              <a:rPr lang="en-US" smtClean="0"/>
              <a:t>‹#›</a:t>
            </a:fld>
            <a:endParaRPr lang="en-US"/>
          </a:p>
        </p:txBody>
      </p:sp>
    </p:spTree>
    <p:extLst>
      <p:ext uri="{BB962C8B-B14F-4D97-AF65-F5344CB8AC3E}">
        <p14:creationId xmlns:p14="http://schemas.microsoft.com/office/powerpoint/2010/main" val="197381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82000"/>
                  </a:schemeClr>
                </a:solidFill>
              </a:defRPr>
            </a:lvl1pPr>
          </a:lstStyle>
          <a:p>
            <a:fld id="{5C95807E-0EF9-40A8-9FFF-69337BF76F11}" type="datetimeFigureOut">
              <a:rPr lang="en-US" smtClean="0"/>
              <a:t>10/22/2024</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82000"/>
                  </a:schemeClr>
                </a:solidFill>
              </a:defRPr>
            </a:lvl1pPr>
          </a:lstStyle>
          <a:p>
            <a:fld id="{9C921A97-E4AA-4329-B7E4-1A46565B34F8}" type="slidenum">
              <a:rPr lang="en-US" smtClean="0"/>
              <a:t>‹#›</a:t>
            </a:fld>
            <a:endParaRPr lang="en-US"/>
          </a:p>
        </p:txBody>
      </p:sp>
    </p:spTree>
    <p:extLst>
      <p:ext uri="{BB962C8B-B14F-4D97-AF65-F5344CB8AC3E}">
        <p14:creationId xmlns:p14="http://schemas.microsoft.com/office/powerpoint/2010/main" val="15635341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image" Target="../media/image11.png"/><Relationship Id="rId18" Type="http://schemas.openxmlformats.org/officeDocument/2006/relationships/hyperlink" Target="https://arpa/" TargetMode="External"/><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jpg"/><Relationship Id="rId17" Type="http://schemas.openxmlformats.org/officeDocument/2006/relationships/image" Target="../media/image14.jpg"/><Relationship Id="rId2" Type="http://schemas.openxmlformats.org/officeDocument/2006/relationships/notesSlide" Target="../notesSlides/notesSlide1.xml"/><Relationship Id="rId16" Type="http://schemas.openxmlformats.org/officeDocument/2006/relationships/image" Target="../media/image13.jp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5" Type="http://schemas.openxmlformats.org/officeDocument/2006/relationships/image" Target="../media/image12.jp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E53E5C-8145-7A76-4F5F-C9F5023FB412}"/>
              </a:ext>
            </a:extLst>
          </p:cNvPr>
          <p:cNvSpPr txBox="1"/>
          <p:nvPr/>
        </p:nvSpPr>
        <p:spPr>
          <a:xfrm>
            <a:off x="0" y="0"/>
            <a:ext cx="21945600" cy="3939540"/>
          </a:xfrm>
          <a:prstGeom prst="rect">
            <a:avLst/>
          </a:prstGeom>
          <a:solidFill>
            <a:schemeClr val="tx2">
              <a:lumMod val="75000"/>
              <a:lumOff val="25000"/>
            </a:schemeClr>
          </a:solidFill>
        </p:spPr>
        <p:txBody>
          <a:bodyPr wrap="square" rtlCol="0">
            <a:spAutoFit/>
          </a:bodyPr>
          <a:lstStyle/>
          <a:p>
            <a:endParaRPr lang="en-US" sz="25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8E516E7-F56E-839F-6836-174650F788E9}"/>
              </a:ext>
            </a:extLst>
          </p:cNvPr>
          <p:cNvSpPr txBox="1"/>
          <p:nvPr/>
        </p:nvSpPr>
        <p:spPr>
          <a:xfrm>
            <a:off x="2574758" y="209601"/>
            <a:ext cx="16796084" cy="2631490"/>
          </a:xfrm>
          <a:prstGeom prst="rect">
            <a:avLst/>
          </a:prstGeom>
          <a:noFill/>
        </p:spPr>
        <p:txBody>
          <a:bodyPr wrap="square" rtlCol="0">
            <a:spAutoFit/>
          </a:bodyPr>
          <a:lstStyle/>
          <a:p>
            <a:pPr algn="ctr"/>
            <a:r>
              <a:rPr lang="en-US" sz="5500" b="1" dirty="0">
                <a:solidFill>
                  <a:schemeClr val="bg1"/>
                </a:solidFill>
                <a:latin typeface="Times New Roman" panose="02020603050405020304" pitchFamily="18" charset="0"/>
                <a:cs typeface="Times New Roman" panose="02020603050405020304" pitchFamily="18" charset="0"/>
              </a:rPr>
              <a:t>Modeling, Validation, and Control of the IEA-15MW Reference Wind Turbine and </a:t>
            </a:r>
            <a:r>
              <a:rPr lang="en-US" sz="5500" b="1" dirty="0" err="1">
                <a:solidFill>
                  <a:schemeClr val="bg1"/>
                </a:solidFill>
                <a:latin typeface="Times New Roman" panose="02020603050405020304" pitchFamily="18" charset="0"/>
                <a:cs typeface="Times New Roman" panose="02020603050405020304" pitchFamily="18" charset="0"/>
              </a:rPr>
              <a:t>VolturnUS</a:t>
            </a:r>
            <a:r>
              <a:rPr lang="en-US" sz="5500" b="1" dirty="0">
                <a:solidFill>
                  <a:schemeClr val="bg1"/>
                </a:solidFill>
                <a:latin typeface="Times New Roman" panose="02020603050405020304" pitchFamily="18" charset="0"/>
                <a:cs typeface="Times New Roman" panose="02020603050405020304" pitchFamily="18" charset="0"/>
              </a:rPr>
              <a:t>-S Platform</a:t>
            </a:r>
          </a:p>
          <a:p>
            <a:pPr algn="ctr"/>
            <a:endParaRPr lang="en-US" sz="5500" b="1" dirty="0">
              <a:solidFill>
                <a:schemeClr val="bg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1D370E4-BAFA-6A32-BFF9-3845F4BA3CB6}"/>
              </a:ext>
            </a:extLst>
          </p:cNvPr>
          <p:cNvSpPr txBox="1"/>
          <p:nvPr/>
        </p:nvSpPr>
        <p:spPr>
          <a:xfrm>
            <a:off x="2574758" y="2500065"/>
            <a:ext cx="17734547" cy="1261884"/>
          </a:xfrm>
          <a:prstGeom prst="rect">
            <a:avLst/>
          </a:prstGeom>
          <a:noFill/>
        </p:spPr>
        <p:txBody>
          <a:bodyPr wrap="square" rtlCol="0">
            <a:spAutoFit/>
          </a:bodyPr>
          <a:lstStyle/>
          <a:p>
            <a:pPr algn="ctr"/>
            <a:r>
              <a:rPr lang="en-US" sz="3800" dirty="0">
                <a:solidFill>
                  <a:schemeClr val="bg1"/>
                </a:solidFill>
                <a:latin typeface="Times New Roman" panose="02020603050405020304" pitchFamily="18" charset="0"/>
                <a:cs typeface="Times New Roman" panose="02020603050405020304" pitchFamily="18" charset="0"/>
              </a:rPr>
              <a:t>Doyal Sarker, Dung Tran, Kazi Mohsin, Mohammad Odeh, Tri Ngo, </a:t>
            </a:r>
            <a:r>
              <a:rPr lang="en-US" sz="3800" dirty="0" err="1">
                <a:solidFill>
                  <a:schemeClr val="bg1"/>
                </a:solidFill>
                <a:latin typeface="Times New Roman" panose="02020603050405020304" pitchFamily="18" charset="0"/>
                <a:cs typeface="Times New Roman" panose="02020603050405020304" pitchFamily="18" charset="0"/>
              </a:rPr>
              <a:t>Tuhin</a:t>
            </a:r>
            <a:r>
              <a:rPr lang="en-US" sz="3800" dirty="0">
                <a:solidFill>
                  <a:schemeClr val="bg1"/>
                </a:solidFill>
                <a:latin typeface="Times New Roman" panose="02020603050405020304" pitchFamily="18" charset="0"/>
                <a:cs typeface="Times New Roman" panose="02020603050405020304" pitchFamily="18" charset="0"/>
              </a:rPr>
              <a:t> Das</a:t>
            </a:r>
          </a:p>
          <a:p>
            <a:pPr algn="ctr"/>
            <a:r>
              <a:rPr lang="en-US" sz="3800" dirty="0">
                <a:solidFill>
                  <a:schemeClr val="bg1"/>
                </a:solidFill>
                <a:latin typeface="Times New Roman" panose="02020603050405020304" pitchFamily="18" charset="0"/>
                <a:cs typeface="Times New Roman" panose="02020603050405020304" pitchFamily="18" charset="0"/>
              </a:rPr>
              <a:t>University of Central Florida, Orlando, FL 32816, USA</a:t>
            </a:r>
          </a:p>
        </p:txBody>
      </p:sp>
      <p:pic>
        <p:nvPicPr>
          <p:cNvPr id="8" name="Picture 7" descr="Logo&#10;&#10;Description automatically generated">
            <a:extLst>
              <a:ext uri="{FF2B5EF4-FFF2-40B4-BE49-F238E27FC236}">
                <a16:creationId xmlns:a16="http://schemas.microsoft.com/office/drawing/2014/main" id="{3B76F4BE-AD0E-9CDE-04AF-87F85B859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010" y="438201"/>
            <a:ext cx="2142164" cy="2890628"/>
          </a:xfrm>
          <a:prstGeom prst="rect">
            <a:avLst/>
          </a:prstGeom>
        </p:spPr>
      </p:pic>
      <p:pic>
        <p:nvPicPr>
          <p:cNvPr id="9" name="Picture 8" descr="A black and white city skyline&#10;&#10;Description automatically generated">
            <a:extLst>
              <a:ext uri="{FF2B5EF4-FFF2-40B4-BE49-F238E27FC236}">
                <a16:creationId xmlns:a16="http://schemas.microsoft.com/office/drawing/2014/main" id="{2A4F334A-AF5D-932B-124D-747190931D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6537" y="1137661"/>
            <a:ext cx="3041105" cy="1491707"/>
          </a:xfrm>
          <a:prstGeom prst="rect">
            <a:avLst/>
          </a:prstGeom>
        </p:spPr>
      </p:pic>
      <p:sp>
        <p:nvSpPr>
          <p:cNvPr id="11" name="TextBox 10">
            <a:extLst>
              <a:ext uri="{FF2B5EF4-FFF2-40B4-BE49-F238E27FC236}">
                <a16:creationId xmlns:a16="http://schemas.microsoft.com/office/drawing/2014/main" id="{0E315E75-FCCC-9F45-1FCF-A546B44160C4}"/>
              </a:ext>
            </a:extLst>
          </p:cNvPr>
          <p:cNvSpPr txBox="1"/>
          <p:nvPr/>
        </p:nvSpPr>
        <p:spPr>
          <a:xfrm>
            <a:off x="0" y="3939540"/>
            <a:ext cx="21945600" cy="26407229"/>
          </a:xfrm>
          <a:prstGeom prst="rect">
            <a:avLst/>
          </a:prstGeom>
          <a:solidFill>
            <a:schemeClr val="accent6">
              <a:lumMod val="20000"/>
              <a:lumOff val="80000"/>
            </a:schemeClr>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2" name="TextBox 11">
            <a:extLst>
              <a:ext uri="{FF2B5EF4-FFF2-40B4-BE49-F238E27FC236}">
                <a16:creationId xmlns:a16="http://schemas.microsoft.com/office/drawing/2014/main" id="{3E9688DE-8136-2FE0-AC58-B77E17FEDBB9}"/>
              </a:ext>
            </a:extLst>
          </p:cNvPr>
          <p:cNvSpPr txBox="1"/>
          <p:nvPr/>
        </p:nvSpPr>
        <p:spPr>
          <a:xfrm>
            <a:off x="187052" y="4114800"/>
            <a:ext cx="21560590" cy="25853231"/>
          </a:xfrm>
          <a:prstGeom prst="rect">
            <a:avLst/>
          </a:prstGeom>
          <a:solidFill>
            <a:schemeClr val="bg1"/>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3" name="TextBox 12">
            <a:extLst>
              <a:ext uri="{FF2B5EF4-FFF2-40B4-BE49-F238E27FC236}">
                <a16:creationId xmlns:a16="http://schemas.microsoft.com/office/drawing/2014/main" id="{E6F34AE9-114B-7088-C9D8-FCCF0B9523AF}"/>
              </a:ext>
            </a:extLst>
          </p:cNvPr>
          <p:cNvSpPr txBox="1"/>
          <p:nvPr/>
        </p:nvSpPr>
        <p:spPr>
          <a:xfrm>
            <a:off x="385010" y="4372660"/>
            <a:ext cx="10587790" cy="25576232"/>
          </a:xfrm>
          <a:prstGeom prst="rect">
            <a:avLst/>
          </a:prstGeom>
          <a:noFill/>
          <a:ln>
            <a:solidFill>
              <a:srgbClr val="0070C0"/>
            </a:solid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4" name="TextBox 13">
            <a:extLst>
              <a:ext uri="{FF2B5EF4-FFF2-40B4-BE49-F238E27FC236}">
                <a16:creationId xmlns:a16="http://schemas.microsoft.com/office/drawing/2014/main" id="{48877245-8023-5945-951B-17F8BECBBC72}"/>
              </a:ext>
            </a:extLst>
          </p:cNvPr>
          <p:cNvSpPr txBox="1"/>
          <p:nvPr/>
        </p:nvSpPr>
        <p:spPr>
          <a:xfrm>
            <a:off x="11041598" y="4373394"/>
            <a:ext cx="10437960" cy="25576232"/>
          </a:xfrm>
          <a:prstGeom prst="rect">
            <a:avLst/>
          </a:prstGeom>
          <a:noFill/>
          <a:ln>
            <a:solidFill>
              <a:srgbClr val="0070C0"/>
            </a:solidFill>
          </a:ln>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5" name="TextBox 14">
            <a:extLst>
              <a:ext uri="{FF2B5EF4-FFF2-40B4-BE49-F238E27FC236}">
                <a16:creationId xmlns:a16="http://schemas.microsoft.com/office/drawing/2014/main" id="{1B5E93AF-581C-ADE8-2F3C-4CE7EF22A9A0}"/>
              </a:ext>
            </a:extLst>
          </p:cNvPr>
          <p:cNvSpPr txBox="1"/>
          <p:nvPr/>
        </p:nvSpPr>
        <p:spPr>
          <a:xfrm>
            <a:off x="385010" y="4372660"/>
            <a:ext cx="10587790"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Introduction</a:t>
            </a:r>
          </a:p>
        </p:txBody>
      </p:sp>
      <p:sp>
        <p:nvSpPr>
          <p:cNvPr id="16" name="Content Placeholder 3">
            <a:extLst>
              <a:ext uri="{FF2B5EF4-FFF2-40B4-BE49-F238E27FC236}">
                <a16:creationId xmlns:a16="http://schemas.microsoft.com/office/drawing/2014/main" id="{A48609BB-513C-B86E-B3B5-83596E8C436B}"/>
              </a:ext>
            </a:extLst>
          </p:cNvPr>
          <p:cNvSpPr txBox="1">
            <a:spLocks/>
          </p:cNvSpPr>
          <p:nvPr/>
        </p:nvSpPr>
        <p:spPr>
          <a:xfrm>
            <a:off x="600016" y="5971080"/>
            <a:ext cx="10238993" cy="3674643"/>
          </a:xfrm>
          <a:prstGeom prst="rect">
            <a:avLst/>
          </a:prstGeom>
        </p:spPr>
        <p:txBody>
          <a:bodyPr vert="horz" lIns="0" tIns="0" rIns="0" bIns="0" rtlCol="0">
            <a:noAutofit/>
          </a:bodyPr>
          <a:lstStyle>
            <a:lvl1pPr marL="256032" indent="-256032" algn="l" defTabSz="457200" rtl="0" eaLnBrk="1" latinLnBrk="0" hangingPunct="1">
              <a:spcBef>
                <a:spcPts val="600"/>
              </a:spcBef>
              <a:buClr>
                <a:schemeClr val="accent2"/>
              </a:buClr>
              <a:buSzPct val="120000"/>
              <a:buFont typeface="Roboto"/>
              <a:buChar char="‣"/>
              <a:defRPr sz="2400" kern="1200">
                <a:solidFill>
                  <a:schemeClr val="tx1"/>
                </a:solidFill>
                <a:latin typeface="Roboto" panose="02000000000000000000" pitchFamily="2" charset="0"/>
                <a:ea typeface="Roboto" panose="02000000000000000000" pitchFamily="2" charset="0"/>
                <a:cs typeface="+mn-cs"/>
              </a:defRPr>
            </a:lvl1pPr>
            <a:lvl2pPr marL="742950" indent="-285750" algn="l" defTabSz="457200" rtl="0" eaLnBrk="1" latinLnBrk="0" hangingPunct="1">
              <a:spcBef>
                <a:spcPct val="20000"/>
              </a:spcBef>
              <a:buClr>
                <a:schemeClr val="accent2"/>
              </a:buClr>
              <a:buFont typeface="Arial"/>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457200" rtl="0" eaLnBrk="1" latinLnBrk="0" hangingPunct="1">
              <a:spcBef>
                <a:spcPct val="20000"/>
              </a:spcBef>
              <a:buClr>
                <a:schemeClr val="accent2"/>
              </a:buClr>
              <a:buFont typeface="Arial"/>
              <a:buChar char="•"/>
              <a:defRPr sz="2400" kern="1200">
                <a:solidFill>
                  <a:schemeClr val="tx1"/>
                </a:solidFill>
                <a:latin typeface="Roboto" panose="02000000000000000000" pitchFamily="2" charset="0"/>
                <a:ea typeface="Roboto" panose="02000000000000000000" pitchFamily="2" charset="0"/>
                <a:cs typeface="+mn-cs"/>
              </a:defRPr>
            </a:lvl3pPr>
            <a:lvl4pPr marL="1600200" indent="-228600" algn="l" defTabSz="457200" rtl="0" eaLnBrk="1" latinLnBrk="0" hangingPunct="1">
              <a:spcBef>
                <a:spcPct val="20000"/>
              </a:spcBef>
              <a:buClr>
                <a:schemeClr val="accent2"/>
              </a:buClr>
              <a:buFont typeface="Arial"/>
              <a:buChar char="–"/>
              <a:defRPr sz="2400" kern="1200">
                <a:solidFill>
                  <a:schemeClr val="tx1"/>
                </a:solidFill>
                <a:latin typeface="Roboto" panose="02000000000000000000" pitchFamily="2" charset="0"/>
                <a:ea typeface="Roboto" panose="02000000000000000000" pitchFamily="2" charset="0"/>
                <a:cs typeface="+mn-cs"/>
              </a:defRPr>
            </a:lvl4pPr>
            <a:lvl5pPr marL="2057400" indent="-228600" algn="l" defTabSz="457200" rtl="0" eaLnBrk="1" latinLnBrk="0" hangingPunct="1">
              <a:spcBef>
                <a:spcPct val="20000"/>
              </a:spcBef>
              <a:buClr>
                <a:schemeClr val="accent2"/>
              </a:buClr>
              <a:buFont typeface="Arial"/>
              <a:buChar char="»"/>
              <a:defRPr sz="2400" kern="1200">
                <a:solidFill>
                  <a:schemeClr val="tx1"/>
                </a:solidFill>
                <a:latin typeface="Roboto" panose="02000000000000000000" pitchFamily="2" charset="0"/>
                <a:ea typeface="Roboto" panose="02000000000000000000" pitchFamily="2"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Acausal plug-and-play features in </a:t>
            </a:r>
            <a:r>
              <a:rPr kumimoji="0" lang="en-US" sz="2500" b="0" i="0" strike="noStrike" kern="0" cap="none" spc="0" normalizeH="0" baseline="0" noProof="0" dirty="0" err="1">
                <a:ln>
                  <a:noFill/>
                </a:ln>
                <a:solidFill>
                  <a:sysClr val="windowText" lastClr="000000"/>
                </a:solidFill>
                <a:effectLst/>
                <a:uLnTx/>
                <a:uFillTx/>
                <a:latin typeface="Times New Roman" panose="02020603050405020304" pitchFamily="18" charset="0"/>
                <a:cs typeface="Times New Roman" panose="02020603050405020304" pitchFamily="18" charset="0"/>
              </a:rPr>
              <a:t>Modelica</a:t>
            </a: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language </a:t>
            </a:r>
          </a:p>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Integrable with causal platforms such as MATLAB</a:t>
            </a:r>
          </a:p>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Modular library structure with physics-based models (aero/hydro/structure)</a:t>
            </a:r>
          </a:p>
          <a:p>
            <a:pPr marL="0" marR="0" lvl="0" indent="0" algn="l" defTabSz="457200" rtl="0" eaLnBrk="1" fontAlgn="auto" latinLnBrk="0" hangingPunct="1">
              <a:lnSpc>
                <a:spcPct val="100000"/>
              </a:lnSpc>
              <a:spcAft>
                <a:spcPts val="0"/>
              </a:spcAft>
              <a:buClr>
                <a:srgbClr val="09425B"/>
              </a:buClr>
              <a:buSzPct val="120000"/>
              <a:buNone/>
              <a:tabLst/>
              <a:defRPr/>
            </a:pPr>
            <a:r>
              <a:rPr lang="en-US" sz="2500" kern="0" dirty="0">
                <a:solidFill>
                  <a:sysClr val="windowText" lastClr="000000"/>
                </a:solidFill>
                <a:latin typeface="Times New Roman" panose="02020603050405020304" pitchFamily="18" charset="0"/>
                <a:cs typeface="Times New Roman" panose="02020603050405020304" pitchFamily="18" charset="0"/>
              </a:rPr>
              <a:t>  </a:t>
            </a: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 validated against experimental data or recognized models</a:t>
            </a:r>
          </a:p>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Model-based Control Co-Design for improved energy efficiency, </a:t>
            </a:r>
          </a:p>
          <a:p>
            <a:pPr marL="0" marR="0" lvl="0" indent="0" algn="l" defTabSz="457200" rtl="0" eaLnBrk="1" fontAlgn="auto" latinLnBrk="0" hangingPunct="1">
              <a:lnSpc>
                <a:spcPct val="100000"/>
              </a:lnSpc>
              <a:spcAft>
                <a:spcPts val="0"/>
              </a:spcAft>
              <a:buClr>
                <a:srgbClr val="09425B"/>
              </a:buClr>
              <a:buSzPct val="120000"/>
              <a:buNone/>
              <a:tabLst/>
              <a:defRPr/>
            </a:pPr>
            <a:r>
              <a:rPr lang="en-US" sz="2500" kern="0" dirty="0">
                <a:solidFill>
                  <a:sysClr val="windowText" lastClr="000000"/>
                </a:solidFill>
                <a:latin typeface="Times New Roman" panose="02020603050405020304" pitchFamily="18" charset="0"/>
                <a:cs typeface="Times New Roman" panose="02020603050405020304" pitchFamily="18" charset="0"/>
              </a:rPr>
              <a:t>   </a:t>
            </a: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load attenuation</a:t>
            </a:r>
          </a:p>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rPr>
              <a:t>Causality-free modeling to facilitate structural innovations in FOWTs.</a:t>
            </a:r>
          </a:p>
          <a:p>
            <a:pPr marL="256032" marR="0" lvl="0" indent="-256032" algn="l" defTabSz="457200" rtl="0" eaLnBrk="1" fontAlgn="auto" latinLnBrk="0" hangingPunct="1">
              <a:lnSpc>
                <a:spcPct val="100000"/>
              </a:lnSpc>
              <a:spcAft>
                <a:spcPts val="0"/>
              </a:spcAft>
              <a:buClr>
                <a:srgbClr val="09425B"/>
              </a:buClr>
              <a:buSzPct val="120000"/>
              <a:buFont typeface="Roboto"/>
              <a:buChar char="‣"/>
              <a:tabLst/>
              <a:defRPr/>
            </a:pPr>
            <a:r>
              <a:rPr lang="en-US" sz="2500" dirty="0">
                <a:latin typeface="Times New Roman" panose="02020603050405020304" pitchFamily="18" charset="0"/>
                <a:cs typeface="Times New Roman" panose="02020603050405020304" pitchFamily="18" charset="0"/>
              </a:rPr>
              <a:t>CRAFTS simulator developed to integrate aero-hydro-structural dynamics with control systems for better FOWT optimization.</a:t>
            </a:r>
            <a:endParaRPr kumimoji="0" lang="en-US" sz="2500" b="0" i="0"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a:p>
            <a:pPr marL="256032" marR="0" lvl="0" indent="-256032" algn="l" defTabSz="457200" rtl="0" eaLnBrk="1" fontAlgn="auto" latinLnBrk="0" hangingPunct="1">
              <a:lnSpc>
                <a:spcPct val="100000"/>
              </a:lnSpc>
              <a:spcBef>
                <a:spcPts val="600"/>
              </a:spcBef>
              <a:spcAft>
                <a:spcPts val="0"/>
              </a:spcAft>
              <a:buClr>
                <a:srgbClr val="09425B"/>
              </a:buClr>
              <a:buSzPct val="120000"/>
              <a:buFont typeface="Roboto"/>
              <a:buChar char="‣"/>
              <a:tabLst/>
              <a:defRPr/>
            </a:pPr>
            <a:endParaRPr kumimoji="0" lang="en-US" sz="2550" b="0" i="0" strike="noStrike" kern="0" cap="none" spc="0" normalizeH="0" baseline="0" noProof="0" dirty="0">
              <a:ln>
                <a:noFill/>
              </a:ln>
              <a:solidFill>
                <a:sysClr val="windowText" lastClr="000000"/>
              </a:solidFill>
              <a:effectLst/>
              <a:uLnTx/>
              <a:uFillTx/>
              <a:latin typeface="+mn-lt"/>
              <a:ea typeface="Roboto" panose="02000000000000000000" pitchFamily="2" charset="0"/>
              <a:cs typeface="+mn-cs"/>
            </a:endParaRPr>
          </a:p>
        </p:txBody>
      </p:sp>
      <p:sp>
        <p:nvSpPr>
          <p:cNvPr id="17" name="TextBox 16">
            <a:extLst>
              <a:ext uri="{FF2B5EF4-FFF2-40B4-BE49-F238E27FC236}">
                <a16:creationId xmlns:a16="http://schemas.microsoft.com/office/drawing/2014/main" id="{FA6CFC65-AE58-21B8-3835-855537B5917F}"/>
              </a:ext>
            </a:extLst>
          </p:cNvPr>
          <p:cNvSpPr txBox="1"/>
          <p:nvPr/>
        </p:nvSpPr>
        <p:spPr>
          <a:xfrm>
            <a:off x="600016" y="5101390"/>
            <a:ext cx="10238993" cy="861774"/>
          </a:xfrm>
          <a:prstGeom prst="rect">
            <a:avLst/>
          </a:prstGeom>
          <a:noFill/>
        </p:spPr>
        <p:txBody>
          <a:bodyPr wrap="square" rtlCol="0">
            <a:spAutoFit/>
          </a:bodyPr>
          <a:lstStyle/>
          <a:p>
            <a:r>
              <a:rPr lang="en-US" sz="2500" dirty="0">
                <a:latin typeface="Times New Roman" panose="02020603050405020304" pitchFamily="18" charset="0"/>
                <a:cs typeface="Times New Roman" panose="02020603050405020304" pitchFamily="18" charset="0"/>
              </a:rPr>
              <a:t>Control-oriented, Reconfigurable and Acausal Floating Turbine Simulator (CRAFTS):</a:t>
            </a:r>
          </a:p>
        </p:txBody>
      </p:sp>
      <p:pic>
        <p:nvPicPr>
          <p:cNvPr id="18" name="Picture 17" descr="A screenshot of a computer&#10;&#10;Description automatically generated">
            <a:extLst>
              <a:ext uri="{FF2B5EF4-FFF2-40B4-BE49-F238E27FC236}">
                <a16:creationId xmlns:a16="http://schemas.microsoft.com/office/drawing/2014/main" id="{89553A1C-5050-E4C7-2FA4-C8E25408BC42}"/>
              </a:ext>
            </a:extLst>
          </p:cNvPr>
          <p:cNvPicPr>
            <a:picLocks noChangeAspect="1"/>
          </p:cNvPicPr>
          <p:nvPr/>
        </p:nvPicPr>
        <p:blipFill>
          <a:blip r:embed="rId5">
            <a:extLst>
              <a:ext uri="{28A0092B-C50C-407E-A947-70E740481C1C}">
                <a14:useLocalDpi xmlns:a14="http://schemas.microsoft.com/office/drawing/2010/main" val="0"/>
              </a:ext>
            </a:extLst>
          </a:blip>
          <a:srcRect l="31015" r="31641"/>
          <a:stretch/>
        </p:blipFill>
        <p:spPr>
          <a:xfrm>
            <a:off x="664184" y="10023019"/>
            <a:ext cx="4955185" cy="4507943"/>
          </a:xfrm>
          <a:prstGeom prst="rect">
            <a:avLst/>
          </a:prstGeom>
        </p:spPr>
      </p:pic>
      <p:pic>
        <p:nvPicPr>
          <p:cNvPr id="19" name="Picture 18">
            <a:extLst>
              <a:ext uri="{FF2B5EF4-FFF2-40B4-BE49-F238E27FC236}">
                <a16:creationId xmlns:a16="http://schemas.microsoft.com/office/drawing/2014/main" id="{746EAC30-59ED-E590-8FC6-FE348F5EBA33}"/>
              </a:ext>
            </a:extLst>
          </p:cNvPr>
          <p:cNvPicPr>
            <a:picLocks noChangeAspect="1"/>
          </p:cNvPicPr>
          <p:nvPr/>
        </p:nvPicPr>
        <p:blipFill rotWithShape="1">
          <a:blip r:embed="rId6"/>
          <a:srcRect t="1" r="67019" b="41956"/>
          <a:stretch/>
        </p:blipFill>
        <p:spPr>
          <a:xfrm>
            <a:off x="5970589" y="10383964"/>
            <a:ext cx="2831523" cy="3777166"/>
          </a:xfrm>
          <a:prstGeom prst="rect">
            <a:avLst/>
          </a:prstGeom>
        </p:spPr>
      </p:pic>
      <p:pic>
        <p:nvPicPr>
          <p:cNvPr id="21" name="Picture 20" descr="A screenshot of a computer&#10;&#10;Description automatically generated">
            <a:extLst>
              <a:ext uri="{FF2B5EF4-FFF2-40B4-BE49-F238E27FC236}">
                <a16:creationId xmlns:a16="http://schemas.microsoft.com/office/drawing/2014/main" id="{2C8E0910-4317-2D3E-E132-D4FAB165B2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29805" y="10034228"/>
            <a:ext cx="1977773" cy="4507942"/>
          </a:xfrm>
          <a:prstGeom prst="rect">
            <a:avLst/>
          </a:prstGeom>
        </p:spPr>
      </p:pic>
      <p:sp>
        <p:nvSpPr>
          <p:cNvPr id="22" name="TextBox 21">
            <a:extLst>
              <a:ext uri="{FF2B5EF4-FFF2-40B4-BE49-F238E27FC236}">
                <a16:creationId xmlns:a16="http://schemas.microsoft.com/office/drawing/2014/main" id="{075557F0-AE09-9C03-0EF7-D18D92639702}"/>
              </a:ext>
            </a:extLst>
          </p:cNvPr>
          <p:cNvSpPr txBox="1"/>
          <p:nvPr/>
        </p:nvSpPr>
        <p:spPr>
          <a:xfrm>
            <a:off x="379557" y="14690531"/>
            <a:ext cx="10587790"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Hydrodynamics Module</a:t>
            </a:r>
          </a:p>
        </p:txBody>
      </p:sp>
      <p:sp>
        <p:nvSpPr>
          <p:cNvPr id="23" name="TextBox 22">
            <a:extLst>
              <a:ext uri="{FF2B5EF4-FFF2-40B4-BE49-F238E27FC236}">
                <a16:creationId xmlns:a16="http://schemas.microsoft.com/office/drawing/2014/main" id="{07619B18-943E-0A53-492B-2862C391419E}"/>
              </a:ext>
            </a:extLst>
          </p:cNvPr>
          <p:cNvSpPr txBox="1"/>
          <p:nvPr/>
        </p:nvSpPr>
        <p:spPr>
          <a:xfrm>
            <a:off x="600015" y="15384382"/>
            <a:ext cx="10238993" cy="1246495"/>
          </a:xfrm>
          <a:prstGeom prst="rect">
            <a:avLst/>
          </a:prstGeom>
          <a:noFill/>
        </p:spPr>
        <p:txBody>
          <a:bodyPr wrap="square" rtlCol="0">
            <a:spAutoFit/>
          </a:bodyPr>
          <a:lstStyle/>
          <a:p>
            <a:pPr algn="just"/>
            <a:r>
              <a:rPr lang="en-US" sz="2500" b="0" i="0" u="none" strike="noStrike" baseline="0" dirty="0">
                <a:latin typeface="Times New Roman" panose="02020603050405020304" pitchFamily="18" charset="0"/>
                <a:cs typeface="Times New Roman" panose="02020603050405020304" pitchFamily="18" charset="0"/>
              </a:rPr>
              <a:t>The hydrodynamics loads modeled in CRAFTS simulator include the radiation induced added mass, wave excitation and non-linear viscous drag using Morison equation </a:t>
            </a:r>
            <a:r>
              <a:rPr lang="en-US" sz="2500" dirty="0">
                <a:latin typeface="Times New Roman" panose="02020603050405020304" pitchFamily="18" charset="0"/>
                <a:cs typeface="Times New Roman" panose="02020603050405020304" pitchFamily="18" charset="0"/>
              </a:rPr>
              <a:t>in relative form [1].</a:t>
            </a:r>
          </a:p>
        </p:txBody>
      </p:sp>
      <p:pic>
        <p:nvPicPr>
          <p:cNvPr id="24" name="Picture 23">
            <a:extLst>
              <a:ext uri="{FF2B5EF4-FFF2-40B4-BE49-F238E27FC236}">
                <a16:creationId xmlns:a16="http://schemas.microsoft.com/office/drawing/2014/main" id="{1A52AD3C-3779-27F2-EE97-A31C4B547420}"/>
              </a:ext>
            </a:extLst>
          </p:cNvPr>
          <p:cNvPicPr>
            <a:picLocks noChangeAspect="1"/>
          </p:cNvPicPr>
          <p:nvPr/>
        </p:nvPicPr>
        <p:blipFill>
          <a:blip r:embed="rId8"/>
          <a:stretch>
            <a:fillRect/>
          </a:stretch>
        </p:blipFill>
        <p:spPr>
          <a:xfrm>
            <a:off x="487445" y="16595975"/>
            <a:ext cx="10415229" cy="1804322"/>
          </a:xfrm>
          <a:prstGeom prst="rect">
            <a:avLst/>
          </a:prstGeom>
        </p:spPr>
      </p:pic>
      <p:pic>
        <p:nvPicPr>
          <p:cNvPr id="28" name="Picture 27" descr="A diagram of a diagram&#10;&#10;Description automatically generated">
            <a:extLst>
              <a:ext uri="{FF2B5EF4-FFF2-40B4-BE49-F238E27FC236}">
                <a16:creationId xmlns:a16="http://schemas.microsoft.com/office/drawing/2014/main" id="{D654A690-1181-BDFE-1616-A12E2081A7D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1906" y="19925475"/>
            <a:ext cx="10415229" cy="3346137"/>
          </a:xfrm>
          <a:prstGeom prst="rect">
            <a:avLst/>
          </a:prstGeom>
        </p:spPr>
      </p:pic>
      <p:sp>
        <p:nvSpPr>
          <p:cNvPr id="29" name="TextBox 28">
            <a:extLst>
              <a:ext uri="{FF2B5EF4-FFF2-40B4-BE49-F238E27FC236}">
                <a16:creationId xmlns:a16="http://schemas.microsoft.com/office/drawing/2014/main" id="{0C2D3E72-0CB7-32CD-C08E-12622D6F2040}"/>
              </a:ext>
            </a:extLst>
          </p:cNvPr>
          <p:cNvSpPr txBox="1"/>
          <p:nvPr/>
        </p:nvSpPr>
        <p:spPr>
          <a:xfrm>
            <a:off x="390463" y="23195550"/>
            <a:ext cx="10587790"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Control Module</a:t>
            </a:r>
          </a:p>
        </p:txBody>
      </p:sp>
      <p:sp>
        <p:nvSpPr>
          <p:cNvPr id="30" name="TextBox 29">
            <a:extLst>
              <a:ext uri="{FF2B5EF4-FFF2-40B4-BE49-F238E27FC236}">
                <a16:creationId xmlns:a16="http://schemas.microsoft.com/office/drawing/2014/main" id="{7EA8AD23-7100-362E-67D9-7C4284FB4052}"/>
              </a:ext>
            </a:extLst>
          </p:cNvPr>
          <p:cNvSpPr txBox="1"/>
          <p:nvPr/>
        </p:nvSpPr>
        <p:spPr>
          <a:xfrm>
            <a:off x="589269" y="23910255"/>
            <a:ext cx="10249739" cy="861774"/>
          </a:xfrm>
          <a:prstGeom prst="rect">
            <a:avLst/>
          </a:prstGeom>
          <a:noFill/>
        </p:spPr>
        <p:txBody>
          <a:bodyPr wrap="square" rtlCol="0">
            <a:spAutoFit/>
          </a:bodyPr>
          <a:lstStyle/>
          <a:p>
            <a:pPr marL="285750" indent="-28575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ROSCO controller for regulating rotor speed, maximizing power, and damping platform motion.</a:t>
            </a:r>
          </a:p>
        </p:txBody>
      </p:sp>
      <p:pic>
        <p:nvPicPr>
          <p:cNvPr id="32" name="Picture 31" descr="A diagram of a process&#10;&#10;Description automatically generated">
            <a:extLst>
              <a:ext uri="{FF2B5EF4-FFF2-40B4-BE49-F238E27FC236}">
                <a16:creationId xmlns:a16="http://schemas.microsoft.com/office/drawing/2014/main" id="{87BE4643-1DF7-F7C1-87B5-AB19323623C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5952" y="24833111"/>
            <a:ext cx="10262941" cy="3508353"/>
          </a:xfrm>
          <a:prstGeom prst="rect">
            <a:avLst/>
          </a:prstGeom>
        </p:spPr>
      </p:pic>
      <p:sp>
        <p:nvSpPr>
          <p:cNvPr id="33" name="TextBox 32">
            <a:extLst>
              <a:ext uri="{FF2B5EF4-FFF2-40B4-BE49-F238E27FC236}">
                <a16:creationId xmlns:a16="http://schemas.microsoft.com/office/drawing/2014/main" id="{E9F3EB10-1F2E-F1DD-A7BC-60F70ADD9E7B}"/>
              </a:ext>
            </a:extLst>
          </p:cNvPr>
          <p:cNvSpPr txBox="1"/>
          <p:nvPr/>
        </p:nvSpPr>
        <p:spPr>
          <a:xfrm>
            <a:off x="3031095" y="28224113"/>
            <a:ext cx="5702968" cy="461665"/>
          </a:xfrm>
          <a:prstGeom prst="rect">
            <a:avLst/>
          </a:prstGeom>
          <a:noFill/>
        </p:spPr>
        <p:txBody>
          <a:bodyPr wrap="square" rtlCol="0">
            <a:spAutoFit/>
          </a:bodyPr>
          <a:lstStyle/>
          <a:p>
            <a:r>
              <a:rPr lang="en-US" sz="2400" b="0" i="0" u="none" strike="noStrike" baseline="0" dirty="0">
                <a:latin typeface="CMR10"/>
              </a:rPr>
              <a:t>ROSCO controller </a:t>
            </a:r>
            <a:r>
              <a:rPr lang="en-US" sz="2400" dirty="0">
                <a:latin typeface="CMR10"/>
              </a:rPr>
              <a:t>with Floating feedback [2]</a:t>
            </a:r>
            <a:endParaRPr lang="en-US" sz="2400" dirty="0"/>
          </a:p>
        </p:txBody>
      </p:sp>
      <p:sp>
        <p:nvSpPr>
          <p:cNvPr id="34" name="TextBox 33">
            <a:extLst>
              <a:ext uri="{FF2B5EF4-FFF2-40B4-BE49-F238E27FC236}">
                <a16:creationId xmlns:a16="http://schemas.microsoft.com/office/drawing/2014/main" id="{0DB1F202-3282-030F-161B-5C089EE48F94}"/>
              </a:ext>
            </a:extLst>
          </p:cNvPr>
          <p:cNvSpPr txBox="1"/>
          <p:nvPr/>
        </p:nvSpPr>
        <p:spPr>
          <a:xfrm>
            <a:off x="548582" y="28681653"/>
            <a:ext cx="10249739" cy="1246495"/>
          </a:xfrm>
          <a:prstGeom prst="rect">
            <a:avLst/>
          </a:prstGeom>
          <a:noFill/>
        </p:spPr>
        <p:txBody>
          <a:bodyPr wrap="square" rtlCol="0">
            <a:spAutoFit/>
          </a:bodyPr>
          <a:lstStyle/>
          <a:p>
            <a:pPr marL="285750" indent="-28575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Tuned mass dampers (TMDs) are positioned in the floating platform and only free to translate vertically with tuned frequency (platform pitch or tower) [3]</a:t>
            </a:r>
          </a:p>
        </p:txBody>
      </p:sp>
      <p:pic>
        <p:nvPicPr>
          <p:cNvPr id="36" name="Picture 35" descr="A math equations and formulas&#10;&#10;Description automatically generated">
            <a:extLst>
              <a:ext uri="{FF2B5EF4-FFF2-40B4-BE49-F238E27FC236}">
                <a16:creationId xmlns:a16="http://schemas.microsoft.com/office/drawing/2014/main" id="{6F955290-7605-9242-48B4-A7CBA1F25BD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48644" y="18561169"/>
            <a:ext cx="6056893" cy="1204495"/>
          </a:xfrm>
          <a:prstGeom prst="rect">
            <a:avLst/>
          </a:prstGeom>
        </p:spPr>
      </p:pic>
      <p:sp>
        <p:nvSpPr>
          <p:cNvPr id="37" name="TextBox 36">
            <a:extLst>
              <a:ext uri="{FF2B5EF4-FFF2-40B4-BE49-F238E27FC236}">
                <a16:creationId xmlns:a16="http://schemas.microsoft.com/office/drawing/2014/main" id="{5792C539-0F74-5066-B8BB-5CDCF53C75FE}"/>
              </a:ext>
            </a:extLst>
          </p:cNvPr>
          <p:cNvSpPr txBox="1"/>
          <p:nvPr/>
        </p:nvSpPr>
        <p:spPr>
          <a:xfrm>
            <a:off x="11133062" y="4407501"/>
            <a:ext cx="10422075"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Static Equilibrium &amp; Free Decay Tests</a:t>
            </a:r>
          </a:p>
        </p:txBody>
      </p:sp>
      <p:graphicFrame>
        <p:nvGraphicFramePr>
          <p:cNvPr id="38" name="Table 37">
            <a:extLst>
              <a:ext uri="{FF2B5EF4-FFF2-40B4-BE49-F238E27FC236}">
                <a16:creationId xmlns:a16="http://schemas.microsoft.com/office/drawing/2014/main" id="{5ED67C27-3FD5-4B0B-6453-19615729D343}"/>
              </a:ext>
            </a:extLst>
          </p:cNvPr>
          <p:cNvGraphicFramePr>
            <a:graphicFrameLocks noGrp="1"/>
          </p:cNvGraphicFramePr>
          <p:nvPr>
            <p:extLst>
              <p:ext uri="{D42A27DB-BD31-4B8C-83A1-F6EECF244321}">
                <p14:modId xmlns:p14="http://schemas.microsoft.com/office/powerpoint/2010/main" val="812670715"/>
              </p:ext>
            </p:extLst>
          </p:nvPr>
        </p:nvGraphicFramePr>
        <p:xfrm>
          <a:off x="11187806" y="6929256"/>
          <a:ext cx="4965032" cy="2928827"/>
        </p:xfrm>
        <a:graphic>
          <a:graphicData uri="http://schemas.openxmlformats.org/drawingml/2006/table">
            <a:tbl>
              <a:tblPr firstRow="1" bandRow="1">
                <a:tableStyleId>{5C22544A-7EE6-4342-B048-85BDC9FD1C3A}</a:tableStyleId>
              </a:tblPr>
              <a:tblGrid>
                <a:gridCol w="1163053">
                  <a:extLst>
                    <a:ext uri="{9D8B030D-6E8A-4147-A177-3AD203B41FA5}">
                      <a16:colId xmlns:a16="http://schemas.microsoft.com/office/drawing/2014/main" val="561256334"/>
                    </a:ext>
                  </a:extLst>
                </a:gridCol>
                <a:gridCol w="1319463">
                  <a:extLst>
                    <a:ext uri="{9D8B030D-6E8A-4147-A177-3AD203B41FA5}">
                      <a16:colId xmlns:a16="http://schemas.microsoft.com/office/drawing/2014/main" val="163638011"/>
                    </a:ext>
                  </a:extLst>
                </a:gridCol>
                <a:gridCol w="1241258">
                  <a:extLst>
                    <a:ext uri="{9D8B030D-6E8A-4147-A177-3AD203B41FA5}">
                      <a16:colId xmlns:a16="http://schemas.microsoft.com/office/drawing/2014/main" val="3959889694"/>
                    </a:ext>
                  </a:extLst>
                </a:gridCol>
                <a:gridCol w="1241258">
                  <a:extLst>
                    <a:ext uri="{9D8B030D-6E8A-4147-A177-3AD203B41FA5}">
                      <a16:colId xmlns:a16="http://schemas.microsoft.com/office/drawing/2014/main" val="2835059111"/>
                    </a:ext>
                  </a:extLst>
                </a:gridCol>
              </a:tblGrid>
              <a:tr h="458134">
                <a:tc>
                  <a:txBody>
                    <a:bodyPr/>
                    <a:lstStyle/>
                    <a:p>
                      <a:r>
                        <a:rPr lang="en-US" sz="1700" dirty="0">
                          <a:latin typeface="Times New Roman" panose="02020603050405020304" pitchFamily="18" charset="0"/>
                          <a:cs typeface="Times New Roman" panose="02020603050405020304" pitchFamily="18" charset="0"/>
                        </a:rPr>
                        <a:t>DOF</a:t>
                      </a:r>
                    </a:p>
                  </a:txBody>
                  <a:tcPr/>
                </a:tc>
                <a:tc>
                  <a:txBody>
                    <a:bodyPr/>
                    <a:lstStyle/>
                    <a:p>
                      <a:r>
                        <a:rPr lang="en-US" sz="1700" dirty="0">
                          <a:latin typeface="Times New Roman" panose="02020603050405020304" pitchFamily="18" charset="0"/>
                          <a:cs typeface="Times New Roman" panose="02020603050405020304" pitchFamily="18" charset="0"/>
                        </a:rPr>
                        <a:t>Experiment</a:t>
                      </a:r>
                    </a:p>
                  </a:txBody>
                  <a:tcPr/>
                </a:tc>
                <a:tc>
                  <a:txBody>
                    <a:bodyPr/>
                    <a:lstStyle/>
                    <a:p>
                      <a:r>
                        <a:rPr lang="en-US" sz="1700" dirty="0">
                          <a:latin typeface="Times New Roman" panose="02020603050405020304" pitchFamily="18" charset="0"/>
                          <a:cs typeface="Times New Roman" panose="02020603050405020304" pitchFamily="18" charset="0"/>
                        </a:rPr>
                        <a:t>OpenFAST</a:t>
                      </a:r>
                    </a:p>
                  </a:txBody>
                  <a:tcPr/>
                </a:tc>
                <a:tc>
                  <a:txBody>
                    <a:bodyPr/>
                    <a:lstStyle/>
                    <a:p>
                      <a:r>
                        <a:rPr lang="en-US" sz="1700" dirty="0">
                          <a:latin typeface="Times New Roman" panose="02020603050405020304" pitchFamily="18" charset="0"/>
                          <a:cs typeface="Times New Roman" panose="02020603050405020304" pitchFamily="18" charset="0"/>
                        </a:rPr>
                        <a:t>CRAFTS</a:t>
                      </a:r>
                    </a:p>
                  </a:txBody>
                  <a:tcPr/>
                </a:tc>
                <a:extLst>
                  <a:ext uri="{0D108BD9-81ED-4DB2-BD59-A6C34878D82A}">
                    <a16:rowId xmlns:a16="http://schemas.microsoft.com/office/drawing/2014/main" val="1776305507"/>
                  </a:ext>
                </a:extLst>
              </a:tr>
              <a:tr h="371056">
                <a:tc>
                  <a:txBody>
                    <a:bodyPr/>
                    <a:lstStyle/>
                    <a:p>
                      <a:r>
                        <a:rPr lang="en-US" sz="1700" dirty="0">
                          <a:latin typeface="Times New Roman" panose="02020603050405020304" pitchFamily="18" charset="0"/>
                          <a:cs typeface="Times New Roman" panose="02020603050405020304" pitchFamily="18" charset="0"/>
                        </a:rPr>
                        <a:t>Surge(m)</a:t>
                      </a:r>
                    </a:p>
                  </a:txBody>
                  <a:tcPr/>
                </a:tc>
                <a:tc>
                  <a:txBody>
                    <a:bodyPr/>
                    <a:lstStyle/>
                    <a:p>
                      <a:r>
                        <a:rPr lang="en-US" sz="1700" dirty="0">
                          <a:latin typeface="Times New Roman" panose="02020603050405020304" pitchFamily="18" charset="0"/>
                          <a:cs typeface="Times New Roman" panose="02020603050405020304" pitchFamily="18" charset="0"/>
                        </a:rPr>
                        <a:t>0.310</a:t>
                      </a:r>
                    </a:p>
                  </a:txBody>
                  <a:tcPr/>
                </a:tc>
                <a:tc>
                  <a:txBody>
                    <a:bodyPr/>
                    <a:lstStyle/>
                    <a:p>
                      <a:r>
                        <a:rPr lang="en-US" sz="1700" dirty="0">
                          <a:latin typeface="Times New Roman" panose="02020603050405020304" pitchFamily="18" charset="0"/>
                          <a:cs typeface="Times New Roman" panose="02020603050405020304" pitchFamily="18" charset="0"/>
                        </a:rPr>
                        <a:t>-0.198</a:t>
                      </a:r>
                    </a:p>
                  </a:txBody>
                  <a:tcPr/>
                </a:tc>
                <a:tc>
                  <a:txBody>
                    <a:bodyPr/>
                    <a:lstStyle/>
                    <a:p>
                      <a:r>
                        <a:rPr lang="en-US" sz="1700" dirty="0">
                          <a:latin typeface="Times New Roman" panose="02020603050405020304" pitchFamily="18" charset="0"/>
                          <a:cs typeface="Times New Roman" panose="02020603050405020304" pitchFamily="18" charset="0"/>
                        </a:rPr>
                        <a:t>-0.182</a:t>
                      </a:r>
                    </a:p>
                  </a:txBody>
                  <a:tcPr/>
                </a:tc>
                <a:extLst>
                  <a:ext uri="{0D108BD9-81ED-4DB2-BD59-A6C34878D82A}">
                    <a16:rowId xmlns:a16="http://schemas.microsoft.com/office/drawing/2014/main" val="690072127"/>
                  </a:ext>
                </a:extLst>
              </a:tr>
              <a:tr h="409074">
                <a:tc>
                  <a:txBody>
                    <a:bodyPr/>
                    <a:lstStyle/>
                    <a:p>
                      <a:r>
                        <a:rPr lang="en-US" sz="1700" dirty="0">
                          <a:latin typeface="Times New Roman" panose="02020603050405020304" pitchFamily="18" charset="0"/>
                          <a:cs typeface="Times New Roman" panose="02020603050405020304" pitchFamily="18" charset="0"/>
                        </a:rPr>
                        <a:t>Sway(m)</a:t>
                      </a:r>
                    </a:p>
                  </a:txBody>
                  <a:tcPr/>
                </a:tc>
                <a:tc>
                  <a:txBody>
                    <a:bodyPr/>
                    <a:lstStyle/>
                    <a:p>
                      <a:r>
                        <a:rPr lang="en-US" sz="1700" dirty="0">
                          <a:latin typeface="Times New Roman" panose="02020603050405020304" pitchFamily="18" charset="0"/>
                          <a:cs typeface="Times New Roman" panose="02020603050405020304" pitchFamily="18" charset="0"/>
                        </a:rPr>
                        <a:t>0.570</a:t>
                      </a:r>
                    </a:p>
                  </a:txBody>
                  <a:tcPr/>
                </a:tc>
                <a:tc>
                  <a:txBody>
                    <a:bodyPr/>
                    <a:lstStyle/>
                    <a:p>
                      <a:r>
                        <a:rPr lang="en-US" sz="1700" dirty="0">
                          <a:latin typeface="Times New Roman" panose="02020603050405020304" pitchFamily="18" charset="0"/>
                          <a:cs typeface="Times New Roman" panose="02020603050405020304" pitchFamily="18" charset="0"/>
                        </a:rPr>
                        <a:t>-0.525</a:t>
                      </a:r>
                    </a:p>
                  </a:txBody>
                  <a:tcPr/>
                </a:tc>
                <a:tc>
                  <a:txBody>
                    <a:bodyPr/>
                    <a:lstStyle/>
                    <a:p>
                      <a:r>
                        <a:rPr lang="en-US" sz="1700" dirty="0">
                          <a:latin typeface="Times New Roman" panose="02020603050405020304" pitchFamily="18" charset="0"/>
                          <a:cs typeface="Times New Roman" panose="02020603050405020304" pitchFamily="18" charset="0"/>
                        </a:rPr>
                        <a:t>-0.597</a:t>
                      </a:r>
                    </a:p>
                  </a:txBody>
                  <a:tcPr/>
                </a:tc>
                <a:extLst>
                  <a:ext uri="{0D108BD9-81ED-4DB2-BD59-A6C34878D82A}">
                    <a16:rowId xmlns:a16="http://schemas.microsoft.com/office/drawing/2014/main" val="3750064205"/>
                  </a:ext>
                </a:extLst>
              </a:tr>
              <a:tr h="433137">
                <a:tc>
                  <a:txBody>
                    <a:bodyPr/>
                    <a:lstStyle/>
                    <a:p>
                      <a:r>
                        <a:rPr lang="en-US" sz="1700" dirty="0">
                          <a:latin typeface="Times New Roman" panose="02020603050405020304" pitchFamily="18" charset="0"/>
                          <a:cs typeface="Times New Roman" panose="02020603050405020304" pitchFamily="18" charset="0"/>
                        </a:rPr>
                        <a:t>Heave(m)</a:t>
                      </a:r>
                    </a:p>
                  </a:txBody>
                  <a:tcPr/>
                </a:tc>
                <a:tc>
                  <a:txBody>
                    <a:bodyPr/>
                    <a:lstStyle/>
                    <a:p>
                      <a:r>
                        <a:rPr lang="en-US" sz="1700" dirty="0">
                          <a:latin typeface="Times New Roman" panose="02020603050405020304" pitchFamily="18" charset="0"/>
                          <a:cs typeface="Times New Roman" panose="02020603050405020304" pitchFamily="18" charset="0"/>
                        </a:rPr>
                        <a:t>-1.760</a:t>
                      </a:r>
                    </a:p>
                  </a:txBody>
                  <a:tcPr/>
                </a:tc>
                <a:tc>
                  <a:txBody>
                    <a:bodyPr/>
                    <a:lstStyle/>
                    <a:p>
                      <a:r>
                        <a:rPr lang="en-US" sz="1700" dirty="0">
                          <a:latin typeface="Times New Roman" panose="02020603050405020304" pitchFamily="18" charset="0"/>
                          <a:cs typeface="Times New Roman" panose="02020603050405020304" pitchFamily="18" charset="0"/>
                        </a:rPr>
                        <a:t>-0.009</a:t>
                      </a:r>
                    </a:p>
                  </a:txBody>
                  <a:tcPr/>
                </a:tc>
                <a:tc>
                  <a:txBody>
                    <a:bodyPr/>
                    <a:lstStyle/>
                    <a:p>
                      <a:r>
                        <a:rPr lang="en-US" sz="1700" dirty="0">
                          <a:latin typeface="Times New Roman" panose="02020603050405020304" pitchFamily="18" charset="0"/>
                          <a:cs typeface="Times New Roman" panose="02020603050405020304" pitchFamily="18" charset="0"/>
                        </a:rPr>
                        <a:t>-0.023</a:t>
                      </a:r>
                    </a:p>
                  </a:txBody>
                  <a:tcPr/>
                </a:tc>
                <a:extLst>
                  <a:ext uri="{0D108BD9-81ED-4DB2-BD59-A6C34878D82A}">
                    <a16:rowId xmlns:a16="http://schemas.microsoft.com/office/drawing/2014/main" val="1018542627"/>
                  </a:ext>
                </a:extLst>
              </a:tr>
              <a:tr h="433137">
                <a:tc>
                  <a:txBody>
                    <a:bodyPr/>
                    <a:lstStyle/>
                    <a:p>
                      <a:r>
                        <a:rPr lang="en-US" sz="1700" dirty="0">
                          <a:latin typeface="Times New Roman" panose="02020603050405020304" pitchFamily="18" charset="0"/>
                          <a:cs typeface="Times New Roman" panose="02020603050405020304" pitchFamily="18" charset="0"/>
                        </a:rPr>
                        <a:t>Roll(deg)</a:t>
                      </a:r>
                    </a:p>
                  </a:txBody>
                  <a:tcPr/>
                </a:tc>
                <a:tc>
                  <a:txBody>
                    <a:bodyPr/>
                    <a:lstStyle/>
                    <a:p>
                      <a:r>
                        <a:rPr lang="en-US" sz="1700" dirty="0">
                          <a:latin typeface="Times New Roman" panose="02020603050405020304" pitchFamily="18" charset="0"/>
                          <a:cs typeface="Times New Roman" panose="02020603050405020304" pitchFamily="18" charset="0"/>
                        </a:rPr>
                        <a:t>0.310</a:t>
                      </a:r>
                    </a:p>
                  </a:txBody>
                  <a:tcPr/>
                </a:tc>
                <a:tc>
                  <a:txBody>
                    <a:bodyPr/>
                    <a:lstStyle/>
                    <a:p>
                      <a:r>
                        <a:rPr lang="en-US" sz="1700" dirty="0">
                          <a:latin typeface="Times New Roman" panose="02020603050405020304" pitchFamily="18" charset="0"/>
                          <a:cs typeface="Times New Roman" panose="02020603050405020304" pitchFamily="18" charset="0"/>
                        </a:rPr>
                        <a:t>2.330</a:t>
                      </a:r>
                    </a:p>
                  </a:txBody>
                  <a:tcPr/>
                </a:tc>
                <a:tc>
                  <a:txBody>
                    <a:bodyPr/>
                    <a:lstStyle/>
                    <a:p>
                      <a:r>
                        <a:rPr lang="en-US" sz="1700" dirty="0">
                          <a:latin typeface="Times New Roman" panose="02020603050405020304" pitchFamily="18" charset="0"/>
                          <a:cs typeface="Times New Roman" panose="02020603050405020304" pitchFamily="18" charset="0"/>
                        </a:rPr>
                        <a:t>2.595</a:t>
                      </a:r>
                    </a:p>
                  </a:txBody>
                  <a:tcPr/>
                </a:tc>
                <a:extLst>
                  <a:ext uri="{0D108BD9-81ED-4DB2-BD59-A6C34878D82A}">
                    <a16:rowId xmlns:a16="http://schemas.microsoft.com/office/drawing/2014/main" val="1966663355"/>
                  </a:ext>
                </a:extLst>
              </a:tr>
              <a:tr h="457200">
                <a:tc>
                  <a:txBody>
                    <a:bodyPr/>
                    <a:lstStyle/>
                    <a:p>
                      <a:r>
                        <a:rPr lang="en-US" sz="1700" dirty="0">
                          <a:latin typeface="Times New Roman" panose="02020603050405020304" pitchFamily="18" charset="0"/>
                          <a:cs typeface="Times New Roman" panose="02020603050405020304" pitchFamily="18" charset="0"/>
                        </a:rPr>
                        <a:t>Pitch(deg)</a:t>
                      </a:r>
                    </a:p>
                  </a:txBody>
                  <a:tcPr/>
                </a:tc>
                <a:tc>
                  <a:txBody>
                    <a:bodyPr/>
                    <a:lstStyle/>
                    <a:p>
                      <a:r>
                        <a:rPr lang="en-US" sz="1700" dirty="0">
                          <a:latin typeface="Times New Roman" panose="02020603050405020304" pitchFamily="18" charset="0"/>
                          <a:cs typeface="Times New Roman" panose="02020603050405020304" pitchFamily="18" charset="0"/>
                        </a:rPr>
                        <a:t>0.000</a:t>
                      </a:r>
                    </a:p>
                  </a:txBody>
                  <a:tcPr/>
                </a:tc>
                <a:tc>
                  <a:txBody>
                    <a:bodyPr/>
                    <a:lstStyle/>
                    <a:p>
                      <a:r>
                        <a:rPr lang="en-US" sz="1700" dirty="0">
                          <a:latin typeface="Times New Roman" panose="02020603050405020304" pitchFamily="18" charset="0"/>
                          <a:cs typeface="Times New Roman" panose="02020603050405020304" pitchFamily="18" charset="0"/>
                        </a:rPr>
                        <a:t>1.020</a:t>
                      </a:r>
                    </a:p>
                  </a:txBody>
                  <a:tcPr/>
                </a:tc>
                <a:tc>
                  <a:txBody>
                    <a:bodyPr/>
                    <a:lstStyle/>
                    <a:p>
                      <a:r>
                        <a:rPr lang="en-US" sz="1700" dirty="0">
                          <a:latin typeface="Times New Roman" panose="02020603050405020304" pitchFamily="18" charset="0"/>
                          <a:cs typeface="Times New Roman" panose="02020603050405020304" pitchFamily="18" charset="0"/>
                        </a:rPr>
                        <a:t>1.1125</a:t>
                      </a:r>
                    </a:p>
                  </a:txBody>
                  <a:tcPr/>
                </a:tc>
                <a:extLst>
                  <a:ext uri="{0D108BD9-81ED-4DB2-BD59-A6C34878D82A}">
                    <a16:rowId xmlns:a16="http://schemas.microsoft.com/office/drawing/2014/main" val="2006233331"/>
                  </a:ext>
                </a:extLst>
              </a:tr>
              <a:tr h="367089">
                <a:tc>
                  <a:txBody>
                    <a:bodyPr/>
                    <a:lstStyle/>
                    <a:p>
                      <a:r>
                        <a:rPr lang="en-US" sz="1700" dirty="0">
                          <a:latin typeface="Times New Roman" panose="02020603050405020304" pitchFamily="18" charset="0"/>
                          <a:cs typeface="Times New Roman" panose="02020603050405020304" pitchFamily="18" charset="0"/>
                        </a:rPr>
                        <a:t>Yaw(deg)</a:t>
                      </a:r>
                    </a:p>
                  </a:txBody>
                  <a:tcPr/>
                </a:tc>
                <a:tc>
                  <a:txBody>
                    <a:bodyPr/>
                    <a:lstStyle/>
                    <a:p>
                      <a:r>
                        <a:rPr lang="en-US" sz="1700" dirty="0">
                          <a:latin typeface="Times New Roman" panose="02020603050405020304" pitchFamily="18" charset="0"/>
                          <a:cs typeface="Times New Roman" panose="02020603050405020304" pitchFamily="18" charset="0"/>
                        </a:rPr>
                        <a:t>-1.890</a:t>
                      </a:r>
                    </a:p>
                  </a:txBody>
                  <a:tcPr/>
                </a:tc>
                <a:tc>
                  <a:txBody>
                    <a:bodyPr/>
                    <a:lstStyle/>
                    <a:p>
                      <a:r>
                        <a:rPr lang="en-US" sz="1700" dirty="0">
                          <a:latin typeface="Times New Roman" panose="02020603050405020304" pitchFamily="18" charset="0"/>
                          <a:cs typeface="Times New Roman" panose="02020603050405020304" pitchFamily="18" charset="0"/>
                        </a:rPr>
                        <a:t>-0.413</a:t>
                      </a:r>
                    </a:p>
                  </a:txBody>
                  <a:tcPr/>
                </a:tc>
                <a:tc>
                  <a:txBody>
                    <a:bodyPr/>
                    <a:lstStyle/>
                    <a:p>
                      <a:r>
                        <a:rPr lang="en-US" sz="1700" dirty="0">
                          <a:latin typeface="Times New Roman" panose="02020603050405020304" pitchFamily="18" charset="0"/>
                          <a:cs typeface="Times New Roman" panose="02020603050405020304" pitchFamily="18" charset="0"/>
                        </a:rPr>
                        <a:t>-0.3881</a:t>
                      </a:r>
                    </a:p>
                  </a:txBody>
                  <a:tcPr/>
                </a:tc>
                <a:extLst>
                  <a:ext uri="{0D108BD9-81ED-4DB2-BD59-A6C34878D82A}">
                    <a16:rowId xmlns:a16="http://schemas.microsoft.com/office/drawing/2014/main" val="2976341182"/>
                  </a:ext>
                </a:extLst>
              </a:tr>
            </a:tbl>
          </a:graphicData>
        </a:graphic>
      </p:graphicFrame>
      <p:sp>
        <p:nvSpPr>
          <p:cNvPr id="39" name="TextBox 38">
            <a:extLst>
              <a:ext uri="{FF2B5EF4-FFF2-40B4-BE49-F238E27FC236}">
                <a16:creationId xmlns:a16="http://schemas.microsoft.com/office/drawing/2014/main" id="{83D7D190-338E-755D-7891-3C38DE992831}"/>
              </a:ext>
            </a:extLst>
          </p:cNvPr>
          <p:cNvSpPr txBox="1"/>
          <p:nvPr/>
        </p:nvSpPr>
        <p:spPr>
          <a:xfrm>
            <a:off x="11211208" y="5138095"/>
            <a:ext cx="10249897" cy="1631216"/>
          </a:xfrm>
          <a:prstGeom prst="rect">
            <a:avLst/>
          </a:prstGeom>
          <a:noFill/>
        </p:spPr>
        <p:txBody>
          <a:bodyPr wrap="square" rtlCol="0">
            <a:spAutoFit/>
          </a:bodyPr>
          <a:lstStyle/>
          <a:p>
            <a:pPr algn="just"/>
            <a:r>
              <a:rPr lang="en-US" sz="2500" b="0" i="0" u="none" strike="noStrike" baseline="0" dirty="0">
                <a:latin typeface="Times New Roman" panose="02020603050405020304" pitchFamily="18" charset="0"/>
                <a:cs typeface="Times New Roman" panose="02020603050405020304" pitchFamily="18" charset="0"/>
              </a:rPr>
              <a:t>The static test was conducted under the influence of gravitational load, hydrostatic restoring moments, and the restoring forces from mooring lines. The natural periods and damping ratios were extracted from free decay tests performed on each DOF of floating platform.</a:t>
            </a:r>
            <a:endParaRPr lang="en-US" sz="2500" dirty="0">
              <a:latin typeface="Times New Roman" panose="02020603050405020304" pitchFamily="18" charset="0"/>
              <a:cs typeface="Times New Roman" panose="02020603050405020304" pitchFamily="18" charset="0"/>
            </a:endParaRPr>
          </a:p>
        </p:txBody>
      </p:sp>
      <p:pic>
        <p:nvPicPr>
          <p:cNvPr id="41" name="Picture 40" descr="A comparison of different colored bars&#10;&#10;Description automatically generated">
            <a:extLst>
              <a:ext uri="{FF2B5EF4-FFF2-40B4-BE49-F238E27FC236}">
                <a16:creationId xmlns:a16="http://schemas.microsoft.com/office/drawing/2014/main" id="{A4FA079C-5BC9-6406-F21B-2890F85711E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072054" y="6792019"/>
            <a:ext cx="5402299" cy="3242209"/>
          </a:xfrm>
          <a:prstGeom prst="rect">
            <a:avLst/>
          </a:prstGeom>
        </p:spPr>
      </p:pic>
      <p:sp>
        <p:nvSpPr>
          <p:cNvPr id="42" name="TextBox 41">
            <a:extLst>
              <a:ext uri="{FF2B5EF4-FFF2-40B4-BE49-F238E27FC236}">
                <a16:creationId xmlns:a16="http://schemas.microsoft.com/office/drawing/2014/main" id="{A4D6C2C2-8B17-BF63-3AE7-BA56C3035D0D}"/>
              </a:ext>
            </a:extLst>
          </p:cNvPr>
          <p:cNvSpPr txBox="1"/>
          <p:nvPr/>
        </p:nvSpPr>
        <p:spPr>
          <a:xfrm>
            <a:off x="11079067" y="10184161"/>
            <a:ext cx="10422075"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Wave Only Validation Results</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9EB2255-612E-EFB7-EB6F-9B82F953380F}"/>
                  </a:ext>
                </a:extLst>
              </p:cNvPr>
              <p:cNvSpPr txBox="1"/>
              <p:nvPr/>
            </p:nvSpPr>
            <p:spPr>
              <a:xfrm>
                <a:off x="11081086" y="10996864"/>
                <a:ext cx="10281038" cy="1246495"/>
              </a:xfrm>
              <a:prstGeom prst="rect">
                <a:avLst/>
              </a:prstGeom>
              <a:noFill/>
            </p:spPr>
            <p:txBody>
              <a:bodyPr wrap="square" rtlCol="0">
                <a:spAutoFit/>
              </a:bodyPr>
              <a:lstStyle/>
              <a:p>
                <a:pPr marL="285750" indent="-28575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Irregular JONSWAP Wave, </a:t>
                </a:r>
                <a14:m>
                  <m:oMath xmlns:m="http://schemas.openxmlformats.org/officeDocument/2006/math">
                    <m:r>
                      <a:rPr lang="en-US" sz="2500" i="1" dirty="0" smtClean="0">
                        <a:latin typeface="Cambria Math" panose="02040503050406030204" pitchFamily="18" charset="0"/>
                      </a:rPr>
                      <m:t>𝐻𝑠</m:t>
                    </m:r>
                    <m:r>
                      <a:rPr lang="en-US" sz="2500" i="1" dirty="0" smtClean="0">
                        <a:latin typeface="Cambria Math" panose="02040503050406030204" pitchFamily="18" charset="0"/>
                      </a:rPr>
                      <m:t> = 8.1 </m:t>
                    </m:r>
                    <m:r>
                      <a:rPr lang="en-US" sz="2500" i="1" dirty="0" smtClean="0">
                        <a:latin typeface="Cambria Math" panose="02040503050406030204" pitchFamily="18" charset="0"/>
                      </a:rPr>
                      <m:t>𝑚</m:t>
                    </m:r>
                    <m:r>
                      <a:rPr lang="en-US" sz="2500" i="1" dirty="0" smtClean="0">
                        <a:latin typeface="Cambria Math" panose="02040503050406030204" pitchFamily="18" charset="0"/>
                      </a:rPr>
                      <m:t>, </m:t>
                    </m:r>
                    <m:r>
                      <a:rPr lang="en-US" sz="2500" i="1" dirty="0" err="1" smtClean="0">
                        <a:latin typeface="Cambria Math" panose="02040503050406030204" pitchFamily="18" charset="0"/>
                      </a:rPr>
                      <m:t>𝑇𝑝</m:t>
                    </m:r>
                    <m:r>
                      <a:rPr lang="en-US" sz="2500" i="1" dirty="0" smtClean="0">
                        <a:latin typeface="Cambria Math" panose="02040503050406030204" pitchFamily="18" charset="0"/>
                      </a:rPr>
                      <m:t> = 12.8 </m:t>
                    </m:r>
                    <m:r>
                      <m:rPr>
                        <m:sty m:val="p"/>
                      </m:rPr>
                      <a:rPr lang="en-US" sz="2500" i="1" dirty="0" smtClean="0">
                        <a:latin typeface="Cambria Math" panose="02040503050406030204" pitchFamily="18" charset="0"/>
                      </a:rPr>
                      <m:t>sec</m:t>
                    </m:r>
                    <m:r>
                      <a:rPr lang="en-US" sz="2500" i="1" dirty="0" smtClean="0">
                        <a:latin typeface="Cambria Math" panose="02040503050406030204" pitchFamily="18" charset="0"/>
                      </a:rPr>
                      <m:t>, </m:t>
                    </m:r>
                    <m:r>
                      <a:rPr lang="en-US" sz="2500" b="0" i="1" dirty="0" smtClean="0">
                        <a:latin typeface="Cambria Math" panose="02040503050406030204" pitchFamily="18" charset="0"/>
                      </a:rPr>
                      <m:t>𝛽</m:t>
                    </m:r>
                    <m:r>
                      <a:rPr lang="en-US" sz="2500" b="0" i="1" dirty="0" smtClean="0">
                        <a:latin typeface="Cambria Math" panose="02040503050406030204" pitchFamily="18" charset="0"/>
                      </a:rPr>
                      <m:t>=0 </m:t>
                    </m:r>
                    <m:r>
                      <a:rPr lang="en-US" sz="2500" b="0" i="1" dirty="0" smtClean="0">
                        <a:latin typeface="Cambria Math" panose="02040503050406030204" pitchFamily="18" charset="0"/>
                      </a:rPr>
                      <m:t>𝑑𝑒𝑔</m:t>
                    </m:r>
                    <m:r>
                      <a:rPr lang="en-US" sz="2500" i="1" dirty="0" smtClean="0">
                        <a:latin typeface="Cambria Math" panose="02040503050406030204" pitchFamily="18" charset="0"/>
                      </a:rPr>
                      <m:t> </m:t>
                    </m:r>
                  </m:oMath>
                </a14:m>
                <a:endParaRPr lang="en-US" sz="25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500" b="0" i="0" u="none" strike="noStrike" baseline="0" dirty="0">
                    <a:latin typeface="Times New Roman" panose="02020603050405020304" pitchFamily="18" charset="0"/>
                    <a:cs typeface="Times New Roman" panose="02020603050405020304" pitchFamily="18" charset="0"/>
                  </a:rPr>
                  <a:t>The CRAFTS model exhibits good agreement in pitch PSD with the Fixed TMD, compared with both OpenFAST and experimental data.</a:t>
                </a:r>
                <a:endParaRPr lang="en-US" sz="2500" dirty="0">
                  <a:latin typeface="Times New Roman" panose="02020603050405020304" pitchFamily="18" charset="0"/>
                  <a:cs typeface="Times New Roman" panose="02020603050405020304" pitchFamily="18" charset="0"/>
                </a:endParaRPr>
              </a:p>
            </p:txBody>
          </p:sp>
        </mc:Choice>
        <mc:Fallback xmlns="">
          <p:sp>
            <p:nvSpPr>
              <p:cNvPr id="43" name="TextBox 42">
                <a:extLst>
                  <a:ext uri="{FF2B5EF4-FFF2-40B4-BE49-F238E27FC236}">
                    <a16:creationId xmlns:a16="http://schemas.microsoft.com/office/drawing/2014/main" id="{39EB2255-612E-EFB7-EB6F-9B82F953380F}"/>
                  </a:ext>
                </a:extLst>
              </p:cNvPr>
              <p:cNvSpPr txBox="1">
                <a:spLocks noRot="1" noChangeAspect="1" noMove="1" noResize="1" noEditPoints="1" noAdjustHandles="1" noChangeArrowheads="1" noChangeShapeType="1" noTextEdit="1"/>
              </p:cNvSpPr>
              <p:nvPr/>
            </p:nvSpPr>
            <p:spPr>
              <a:xfrm>
                <a:off x="11081086" y="10996864"/>
                <a:ext cx="10281038" cy="1246495"/>
              </a:xfrm>
              <a:prstGeom prst="rect">
                <a:avLst/>
              </a:prstGeom>
              <a:blipFill>
                <a:blip r:embed="rId13"/>
                <a:stretch>
                  <a:fillRect l="-890" t="-4412" b="-10784"/>
                </a:stretch>
              </a:blipFill>
            </p:spPr>
            <p:txBody>
              <a:bodyPr/>
              <a:lstStyle/>
              <a:p>
                <a:r>
                  <a:rPr lang="en-US">
                    <a:noFill/>
                  </a:rPr>
                  <a:t> </a:t>
                </a:r>
              </a:p>
            </p:txBody>
          </p:sp>
        </mc:Fallback>
      </mc:AlternateContent>
      <p:pic>
        <p:nvPicPr>
          <p:cNvPr id="45" name="Picture 44" descr="A comparison of a wave and a wave&#10;&#10;Description automatically generated with medium confidence">
            <a:extLst>
              <a:ext uri="{FF2B5EF4-FFF2-40B4-BE49-F238E27FC236}">
                <a16:creationId xmlns:a16="http://schemas.microsoft.com/office/drawing/2014/main" id="{A12BEB6C-9A05-19D2-ED3D-2FE965CEFAE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130336" y="12295286"/>
            <a:ext cx="5277929" cy="3887613"/>
          </a:xfrm>
          <a:prstGeom prst="rect">
            <a:avLst/>
          </a:prstGeom>
        </p:spPr>
      </p:pic>
      <p:pic>
        <p:nvPicPr>
          <p:cNvPr id="48" name="Picture 47" descr="A comparison of different colored graphs&#10;&#10;Description automatically generated with medium confidence">
            <a:extLst>
              <a:ext uri="{FF2B5EF4-FFF2-40B4-BE49-F238E27FC236}">
                <a16:creationId xmlns:a16="http://schemas.microsoft.com/office/drawing/2014/main" id="{9FE19D1D-5629-23DD-9A58-25BE54A547C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6334755" y="12288200"/>
            <a:ext cx="4946661" cy="3722744"/>
          </a:xfrm>
          <a:prstGeom prst="rect">
            <a:avLst/>
          </a:prstGeom>
        </p:spPr>
      </p:pic>
      <p:sp>
        <p:nvSpPr>
          <p:cNvPr id="49" name="TextBox 48">
            <a:extLst>
              <a:ext uri="{FF2B5EF4-FFF2-40B4-BE49-F238E27FC236}">
                <a16:creationId xmlns:a16="http://schemas.microsoft.com/office/drawing/2014/main" id="{DE30B530-CDC4-5CD2-D978-16F50F8361EC}"/>
              </a:ext>
            </a:extLst>
          </p:cNvPr>
          <p:cNvSpPr txBox="1"/>
          <p:nvPr/>
        </p:nvSpPr>
        <p:spPr>
          <a:xfrm>
            <a:off x="11081086" y="16220790"/>
            <a:ext cx="10281038" cy="1631216"/>
          </a:xfrm>
          <a:prstGeom prst="rect">
            <a:avLst/>
          </a:prstGeom>
          <a:noFill/>
        </p:spPr>
        <p:txBody>
          <a:bodyPr wrap="square" rtlCol="0">
            <a:spAutoFit/>
          </a:bodyPr>
          <a:lstStyle/>
          <a:p>
            <a:pPr marL="285750" indent="-285750" algn="just">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PSD integrals are calculated over the frequency bands: pitch frequency (0.012−0.05 Hz), wave frequency (0.055−0.25 Hz). </a:t>
            </a:r>
            <a:r>
              <a:rPr lang="en-US" sz="2500" b="0" i="0" u="none" strike="noStrike" baseline="0" dirty="0">
                <a:latin typeface="Times New Roman" panose="02020603050405020304" pitchFamily="18" charset="0"/>
                <a:cs typeface="Times New Roman" panose="02020603050405020304" pitchFamily="18" charset="0"/>
              </a:rPr>
              <a:t>Pitch resonance frequency was found by 47% and 23% for OpenFAST and CRAFTS, respectively.</a:t>
            </a:r>
            <a:endParaRPr lang="en-US" sz="25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15CA2DBF-E0DB-6294-8EB6-8C671BFFB8A6}"/>
              </a:ext>
            </a:extLst>
          </p:cNvPr>
          <p:cNvSpPr txBox="1"/>
          <p:nvPr/>
        </p:nvSpPr>
        <p:spPr>
          <a:xfrm>
            <a:off x="11076222" y="17908947"/>
            <a:ext cx="10422075"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Wind and Wave Inputs</a:t>
            </a:r>
          </a:p>
        </p:txBody>
      </p:sp>
      <p:sp>
        <p:nvSpPr>
          <p:cNvPr id="52" name="TextBox 51">
            <a:extLst>
              <a:ext uri="{FF2B5EF4-FFF2-40B4-BE49-F238E27FC236}">
                <a16:creationId xmlns:a16="http://schemas.microsoft.com/office/drawing/2014/main" id="{64CAA1DB-7572-57E0-76DC-38F106CA545F}"/>
              </a:ext>
            </a:extLst>
          </p:cNvPr>
          <p:cNvSpPr txBox="1"/>
          <p:nvPr/>
        </p:nvSpPr>
        <p:spPr>
          <a:xfrm>
            <a:off x="11036145" y="18703989"/>
            <a:ext cx="10281038" cy="861774"/>
          </a:xfrm>
          <a:prstGeom prst="rect">
            <a:avLst/>
          </a:prstGeom>
          <a:noFill/>
        </p:spPr>
        <p:txBody>
          <a:bodyPr wrap="square" rtlCol="0">
            <a:spAutoFit/>
          </a:bodyPr>
          <a:lstStyle/>
          <a:p>
            <a:pPr marL="285750" indent="-28575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In this case, both step and near rated wind with wave was simulated activating the Pitch TMD and ROSCO controller.</a:t>
            </a:r>
          </a:p>
        </p:txBody>
      </p:sp>
      <p:pic>
        <p:nvPicPr>
          <p:cNvPr id="54" name="Picture 53" descr="A graph of a line graph&#10;&#10;Description automatically generated with medium confidence">
            <a:extLst>
              <a:ext uri="{FF2B5EF4-FFF2-40B4-BE49-F238E27FC236}">
                <a16:creationId xmlns:a16="http://schemas.microsoft.com/office/drawing/2014/main" id="{EB2E152F-5A72-9984-A035-105C1322A63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386103" y="19652919"/>
            <a:ext cx="4661458" cy="5424544"/>
          </a:xfrm>
          <a:prstGeom prst="rect">
            <a:avLst/>
          </a:prstGeom>
        </p:spPr>
      </p:pic>
      <p:pic>
        <p:nvPicPr>
          <p:cNvPr id="56" name="Picture 55" descr="A graph of different colors and sizes&#10;&#10;Description automatically generated with medium confidence">
            <a:extLst>
              <a:ext uri="{FF2B5EF4-FFF2-40B4-BE49-F238E27FC236}">
                <a16:creationId xmlns:a16="http://schemas.microsoft.com/office/drawing/2014/main" id="{462F1115-49DE-F38C-26DD-5A9D301B8E0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544924" y="19602932"/>
            <a:ext cx="4486275" cy="5336754"/>
          </a:xfrm>
          <a:prstGeom prst="rect">
            <a:avLst/>
          </a:prstGeom>
        </p:spPr>
      </p:pic>
      <p:sp>
        <p:nvSpPr>
          <p:cNvPr id="57" name="TextBox 56">
            <a:extLst>
              <a:ext uri="{FF2B5EF4-FFF2-40B4-BE49-F238E27FC236}">
                <a16:creationId xmlns:a16="http://schemas.microsoft.com/office/drawing/2014/main" id="{ED99A219-DE6A-7900-C1CB-B20127AAFE64}"/>
              </a:ext>
            </a:extLst>
          </p:cNvPr>
          <p:cNvSpPr txBox="1"/>
          <p:nvPr/>
        </p:nvSpPr>
        <p:spPr>
          <a:xfrm>
            <a:off x="12418412" y="25052668"/>
            <a:ext cx="333593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Step Wind &amp; Irregular wave</a:t>
            </a:r>
          </a:p>
        </p:txBody>
      </p:sp>
      <p:sp>
        <p:nvSpPr>
          <p:cNvPr id="58" name="TextBox 57">
            <a:extLst>
              <a:ext uri="{FF2B5EF4-FFF2-40B4-BE49-F238E27FC236}">
                <a16:creationId xmlns:a16="http://schemas.microsoft.com/office/drawing/2014/main" id="{6FB4AD6B-BE03-A091-0932-30EC0D6D1F60}"/>
              </a:ext>
            </a:extLst>
          </p:cNvPr>
          <p:cNvSpPr txBox="1"/>
          <p:nvPr/>
        </p:nvSpPr>
        <p:spPr>
          <a:xfrm>
            <a:off x="17037975" y="25052668"/>
            <a:ext cx="3840824"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Near Rated Wind &amp; Irregular wave</a:t>
            </a:r>
          </a:p>
        </p:txBody>
      </p:sp>
      <p:sp>
        <p:nvSpPr>
          <p:cNvPr id="59" name="TextBox 58">
            <a:extLst>
              <a:ext uri="{FF2B5EF4-FFF2-40B4-BE49-F238E27FC236}">
                <a16:creationId xmlns:a16="http://schemas.microsoft.com/office/drawing/2014/main" id="{2A06244E-C396-37E7-4BEC-EC277B663751}"/>
              </a:ext>
            </a:extLst>
          </p:cNvPr>
          <p:cNvSpPr txBox="1"/>
          <p:nvPr/>
        </p:nvSpPr>
        <p:spPr>
          <a:xfrm>
            <a:off x="11057483" y="25565449"/>
            <a:ext cx="10422075"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Conclusions</a:t>
            </a:r>
          </a:p>
        </p:txBody>
      </p:sp>
      <p:sp>
        <p:nvSpPr>
          <p:cNvPr id="60" name="TextBox 59">
            <a:extLst>
              <a:ext uri="{FF2B5EF4-FFF2-40B4-BE49-F238E27FC236}">
                <a16:creationId xmlns:a16="http://schemas.microsoft.com/office/drawing/2014/main" id="{9468592A-E73A-176C-254E-9018CF03B170}"/>
              </a:ext>
            </a:extLst>
          </p:cNvPr>
          <p:cNvSpPr txBox="1"/>
          <p:nvPr/>
        </p:nvSpPr>
        <p:spPr>
          <a:xfrm>
            <a:off x="11076222" y="28395563"/>
            <a:ext cx="10422075" cy="707886"/>
          </a:xfrm>
          <a:prstGeom prst="rect">
            <a:avLst/>
          </a:prstGeom>
          <a:solidFill>
            <a:schemeClr val="tx2">
              <a:lumMod val="75000"/>
              <a:lumOff val="25000"/>
            </a:schemeClr>
          </a:solidFill>
          <a:ln>
            <a:solidFill>
              <a:srgbClr val="0070C0"/>
            </a:solidFill>
          </a:ln>
        </p:spPr>
        <p:txBody>
          <a:bodyPr wrap="square" rtlCol="0">
            <a:spAutoFit/>
          </a:bodyPr>
          <a:lstStyle/>
          <a:p>
            <a:pPr algn="ctr"/>
            <a:r>
              <a:rPr lang="en-US" sz="4000" dirty="0">
                <a:solidFill>
                  <a:schemeClr val="bg1"/>
                </a:solidFill>
                <a:latin typeface="Times New Roman" panose="02020603050405020304" pitchFamily="18" charset="0"/>
                <a:cs typeface="Times New Roman" panose="02020603050405020304" pitchFamily="18" charset="0"/>
              </a:rPr>
              <a:t>Acknowledgements</a:t>
            </a:r>
          </a:p>
        </p:txBody>
      </p:sp>
      <p:sp>
        <p:nvSpPr>
          <p:cNvPr id="61" name="TextBox 60">
            <a:extLst>
              <a:ext uri="{FF2B5EF4-FFF2-40B4-BE49-F238E27FC236}">
                <a16:creationId xmlns:a16="http://schemas.microsoft.com/office/drawing/2014/main" id="{A4CD1B9B-6CE6-7E9D-3028-D5016E9BEF30}"/>
              </a:ext>
            </a:extLst>
          </p:cNvPr>
          <p:cNvSpPr txBox="1"/>
          <p:nvPr/>
        </p:nvSpPr>
        <p:spPr>
          <a:xfrm>
            <a:off x="11127609" y="29074110"/>
            <a:ext cx="10189574" cy="861774"/>
          </a:xfrm>
          <a:prstGeom prst="rect">
            <a:avLst/>
          </a:prstGeom>
          <a:noFill/>
        </p:spPr>
        <p:txBody>
          <a:bodyPr wrap="square" rtlCol="0">
            <a:spAutoFit/>
          </a:bodyPr>
          <a:lstStyle/>
          <a:p>
            <a:pPr algn="l"/>
            <a:r>
              <a:rPr lang="en-US" sz="2500" b="0" i="0" u="none" strike="noStrike" baseline="0" dirty="0">
                <a:latin typeface="Times New Roman" panose="02020603050405020304" pitchFamily="18" charset="0"/>
                <a:cs typeface="Times New Roman" panose="02020603050405020304" pitchFamily="18" charset="0"/>
              </a:rPr>
              <a:t>This work is supported by the U.S. Department of Energy Advanced Research Projects Agency for Energy (ARPA-E) under the grant DE-AR0001187[3].</a:t>
            </a:r>
            <a:endParaRPr lang="en-US" sz="25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37002A6F-AC6A-093B-C817-3A858B9562A3}"/>
              </a:ext>
            </a:extLst>
          </p:cNvPr>
          <p:cNvSpPr txBox="1"/>
          <p:nvPr/>
        </p:nvSpPr>
        <p:spPr>
          <a:xfrm>
            <a:off x="11149541" y="26273335"/>
            <a:ext cx="10220107" cy="2215991"/>
          </a:xfrm>
          <a:prstGeom prst="rect">
            <a:avLst/>
          </a:prstGeom>
          <a:noFill/>
        </p:spPr>
        <p:txBody>
          <a:bodyPr wrap="square" rtlCol="0">
            <a:spAutoFit/>
          </a:bodyPr>
          <a:lstStyle/>
          <a:p>
            <a:pPr algn="just"/>
            <a:r>
              <a:rPr lang="en-US" sz="2300" dirty="0">
                <a:latin typeface="Times New Roman" panose="02020603050405020304" pitchFamily="18" charset="0"/>
                <a:cs typeface="Times New Roman" panose="02020603050405020304" pitchFamily="18" charset="0"/>
              </a:rPr>
              <a:t>T</a:t>
            </a:r>
            <a:r>
              <a:rPr lang="en-US" sz="2300" b="0" i="0" u="none" strike="noStrike" baseline="0" dirty="0">
                <a:latin typeface="Times New Roman" panose="02020603050405020304" pitchFamily="18" charset="0"/>
                <a:cs typeface="Times New Roman" panose="02020603050405020304" pitchFamily="18" charset="0"/>
              </a:rPr>
              <a:t>his study has successfully developed a control-oriented model of the wind turbine with semisubmersible platform within CRAFTS. Through the implementation of ROSCO controller with different settings such as peak shaving (PS), floating feedback, and various TMD configurations (Fixed, Pitch TMDs), the impact of turbine control and load mitigation on the FOWT’s motion response under diverse wind and wave conditions has been thoroughly assessed.</a:t>
            </a:r>
            <a:endParaRPr lang="en-US" sz="23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E0DD275C-86DF-10AC-80F8-76627E5E9326}"/>
              </a:ext>
            </a:extLst>
          </p:cNvPr>
          <p:cNvSpPr txBox="1"/>
          <p:nvPr/>
        </p:nvSpPr>
        <p:spPr>
          <a:xfrm>
            <a:off x="0" y="30346769"/>
            <a:ext cx="21945600" cy="2571631"/>
          </a:xfrm>
          <a:prstGeom prst="rect">
            <a:avLst/>
          </a:prstGeom>
          <a:solidFill>
            <a:schemeClr val="tx2">
              <a:lumMod val="25000"/>
              <a:lumOff val="75000"/>
            </a:schemeClr>
          </a:solidFill>
        </p:spPr>
        <p:txBody>
          <a:bodyPr wrap="square" rtlCol="0">
            <a:spAutoFit/>
          </a:bodyPr>
          <a:lstStyle/>
          <a:p>
            <a:endParaRPr lang="en-US" dirty="0"/>
          </a:p>
        </p:txBody>
      </p:sp>
      <p:sp>
        <p:nvSpPr>
          <p:cNvPr id="64" name="TextBox 63">
            <a:extLst>
              <a:ext uri="{FF2B5EF4-FFF2-40B4-BE49-F238E27FC236}">
                <a16:creationId xmlns:a16="http://schemas.microsoft.com/office/drawing/2014/main" id="{EA46A40B-3C42-084F-D9BA-C76EC2A18F36}"/>
              </a:ext>
            </a:extLst>
          </p:cNvPr>
          <p:cNvSpPr txBox="1"/>
          <p:nvPr/>
        </p:nvSpPr>
        <p:spPr>
          <a:xfrm>
            <a:off x="1053058" y="30420522"/>
            <a:ext cx="2076871" cy="630942"/>
          </a:xfrm>
          <a:prstGeom prst="rect">
            <a:avLst/>
          </a:prstGeom>
          <a:noFill/>
        </p:spPr>
        <p:txBody>
          <a:bodyPr wrap="square" rtlCol="0">
            <a:spAutoFit/>
          </a:bodyPr>
          <a:lstStyle/>
          <a:p>
            <a:r>
              <a:rPr lang="en-US" sz="3500" dirty="0">
                <a:latin typeface="Times New Roman" panose="02020603050405020304" pitchFamily="18" charset="0"/>
                <a:cs typeface="Times New Roman" panose="02020603050405020304" pitchFamily="18" charset="0"/>
              </a:rPr>
              <a:t>Contact:</a:t>
            </a:r>
          </a:p>
        </p:txBody>
      </p:sp>
      <p:sp>
        <p:nvSpPr>
          <p:cNvPr id="65" name="TextBox 64">
            <a:extLst>
              <a:ext uri="{FF2B5EF4-FFF2-40B4-BE49-F238E27FC236}">
                <a16:creationId xmlns:a16="http://schemas.microsoft.com/office/drawing/2014/main" id="{CBBF9DF3-C27A-6463-4FF5-526169B62BDA}"/>
              </a:ext>
            </a:extLst>
          </p:cNvPr>
          <p:cNvSpPr txBox="1"/>
          <p:nvPr/>
        </p:nvSpPr>
        <p:spPr>
          <a:xfrm>
            <a:off x="10798321" y="30306350"/>
            <a:ext cx="2498579" cy="630942"/>
          </a:xfrm>
          <a:prstGeom prst="rect">
            <a:avLst/>
          </a:prstGeom>
          <a:noFill/>
        </p:spPr>
        <p:txBody>
          <a:bodyPr wrap="square" rtlCol="0">
            <a:spAutoFit/>
          </a:bodyPr>
          <a:lstStyle/>
          <a:p>
            <a:r>
              <a:rPr lang="en-US" sz="3500" dirty="0">
                <a:latin typeface="Times New Roman" panose="02020603050405020304" pitchFamily="18" charset="0"/>
                <a:cs typeface="Times New Roman" panose="02020603050405020304" pitchFamily="18" charset="0"/>
              </a:rPr>
              <a:t>References</a:t>
            </a:r>
          </a:p>
        </p:txBody>
      </p:sp>
      <p:sp>
        <p:nvSpPr>
          <p:cNvPr id="66" name="TextBox 65">
            <a:extLst>
              <a:ext uri="{FF2B5EF4-FFF2-40B4-BE49-F238E27FC236}">
                <a16:creationId xmlns:a16="http://schemas.microsoft.com/office/drawing/2014/main" id="{DAD1A963-2824-9A40-C694-ECE8F5A22049}"/>
              </a:ext>
            </a:extLst>
          </p:cNvPr>
          <p:cNvSpPr txBox="1"/>
          <p:nvPr/>
        </p:nvSpPr>
        <p:spPr>
          <a:xfrm>
            <a:off x="10883624" y="30937292"/>
            <a:ext cx="10844968" cy="1600438"/>
          </a:xfrm>
          <a:prstGeom prst="rect">
            <a:avLst/>
          </a:prstGeom>
          <a:noFill/>
        </p:spPr>
        <p:txBody>
          <a:bodyPr wrap="square" rtlCol="0">
            <a:spAutoFit/>
          </a:bodyPr>
          <a:lstStyle/>
          <a:p>
            <a:pPr algn="l"/>
            <a:r>
              <a:rPr lang="en-US" sz="1400" dirty="0">
                <a:latin typeface="Times New Roman" panose="02020603050405020304" pitchFamily="18" charset="0"/>
                <a:cs typeface="Times New Roman" panose="02020603050405020304" pitchFamily="18" charset="0"/>
              </a:rPr>
              <a:t>[1] </a:t>
            </a:r>
            <a:r>
              <a:rPr lang="en-US" sz="1400" b="0" i="0" u="none" strike="noStrike" baseline="0" dirty="0">
                <a:latin typeface="Times New Roman" panose="02020603050405020304" pitchFamily="18" charset="0"/>
                <a:cs typeface="Times New Roman" panose="02020603050405020304" pitchFamily="18" charset="0"/>
              </a:rPr>
              <a:t>Sarker, D., Hasan, T., Ngo, T., and Das, T. (2023). Causality-free modeling of a floating wind turbine semisubmersible platform with validation results. </a:t>
            </a:r>
            <a:r>
              <a:rPr lang="en-US" sz="1400" b="0" i="0" u="none" strike="noStrike" baseline="0" dirty="0" err="1">
                <a:latin typeface="Times New Roman" panose="02020603050405020304" pitchFamily="18" charset="0"/>
                <a:cs typeface="Times New Roman" panose="02020603050405020304" pitchFamily="18" charset="0"/>
              </a:rPr>
              <a:t>IFACPapersOnLine</a:t>
            </a:r>
            <a:r>
              <a:rPr lang="en-US" sz="1400" b="0" i="0" u="none" strike="noStrike" baseline="0" dirty="0">
                <a:latin typeface="Times New Roman" panose="02020603050405020304" pitchFamily="18" charset="0"/>
                <a:cs typeface="Times New Roman" panose="02020603050405020304" pitchFamily="18" charset="0"/>
              </a:rPr>
              <a:t>, 56(3), 559–564.</a:t>
            </a:r>
          </a:p>
          <a:p>
            <a:pPr algn="l"/>
            <a:r>
              <a:rPr lang="en-US" sz="1400" dirty="0">
                <a:latin typeface="Times New Roman" panose="02020603050405020304" pitchFamily="18" charset="0"/>
                <a:cs typeface="Times New Roman" panose="02020603050405020304" pitchFamily="18" charset="0"/>
              </a:rPr>
              <a:t>[2] </a:t>
            </a:r>
            <a:r>
              <a:rPr lang="en-US" sz="1400" b="0" i="0" u="none" strike="noStrike" baseline="0" dirty="0">
                <a:latin typeface="Times New Roman" panose="02020603050405020304" pitchFamily="18" charset="0"/>
                <a:cs typeface="Times New Roman" panose="02020603050405020304" pitchFamily="18" charset="0"/>
              </a:rPr>
              <a:t>Abbas, N., </a:t>
            </a:r>
            <a:r>
              <a:rPr lang="en-US" sz="1400" b="0" i="0" u="none" strike="noStrike" baseline="0" dirty="0" err="1">
                <a:latin typeface="Times New Roman" panose="02020603050405020304" pitchFamily="18" charset="0"/>
                <a:cs typeface="Times New Roman" panose="02020603050405020304" pitchFamily="18" charset="0"/>
              </a:rPr>
              <a:t>Zalkind</a:t>
            </a:r>
            <a:r>
              <a:rPr lang="en-US" sz="1400" b="0" i="0" u="none" strike="noStrike" baseline="0" dirty="0">
                <a:latin typeface="Times New Roman" panose="02020603050405020304" pitchFamily="18" charset="0"/>
                <a:cs typeface="Times New Roman" panose="02020603050405020304" pitchFamily="18" charset="0"/>
              </a:rPr>
              <a:t>, D., Pao, L., and Wright, A. (2021). A reference open-source controller for fixed and floating offshore wind turbines. Wind Energy Science Discussions, 2021, 1–33.</a:t>
            </a:r>
          </a:p>
          <a:p>
            <a:r>
              <a:rPr lang="en-US" sz="1400" dirty="0">
                <a:latin typeface="Times New Roman" panose="02020603050405020304" pitchFamily="18" charset="0"/>
                <a:cs typeface="Times New Roman" panose="02020603050405020304" pitchFamily="18" charset="0"/>
              </a:rPr>
              <a:t>[3] Program description “Aerodynamic Turbines Lighter and Afloat with Nautical Technologies and Integrated Servo-control”, </a:t>
            </a:r>
            <a:r>
              <a:rPr lang="en-US" sz="1400" dirty="0">
                <a:latin typeface="Times New Roman" panose="02020603050405020304" pitchFamily="18" charset="0"/>
                <a:cs typeface="Times New Roman" panose="02020603050405020304" pitchFamily="18" charset="0"/>
                <a:hlinkClick r:id="rId18"/>
              </a:rPr>
              <a:t>https://arpa</a:t>
            </a:r>
            <a:r>
              <a:rPr lang="en-US" sz="1400" dirty="0">
                <a:latin typeface="Times New Roman" panose="02020603050405020304" pitchFamily="18" charset="0"/>
                <a:cs typeface="Times New Roman" panose="02020603050405020304" pitchFamily="18" charset="0"/>
              </a:rPr>
              <a:t> e.energy.gov/technologies/programs/atlantis .</a:t>
            </a:r>
          </a:p>
          <a:p>
            <a:pPr algn="l"/>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6457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390</TotalTime>
  <Words>663</Words>
  <Application>Microsoft Office PowerPoint</Application>
  <PresentationFormat>Custom</PresentationFormat>
  <Paragraphs>431</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Cambria Math</vt:lpstr>
      <vt:lpstr>CMR10</vt:lpstr>
      <vt:lpstr>Roboto</vt:lpstr>
      <vt:lpstr>Times New Roman</vt:lpstr>
      <vt:lpstr>Office Theme</vt:lpstr>
      <vt:lpstr>PowerPoint Presentation</vt:lpstr>
    </vt:vector>
  </TitlesOfParts>
  <Company>University of Central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Doyal Kumar Sarker</dc:creator>
  <cp:lastModifiedBy>Doyal Kumar Sarker</cp:lastModifiedBy>
  <cp:revision>16</cp:revision>
  <dcterms:created xsi:type="dcterms:W3CDTF">2024-10-20T21:03:26Z</dcterms:created>
  <dcterms:modified xsi:type="dcterms:W3CDTF">2024-10-23T00:25:34Z</dcterms:modified>
</cp:coreProperties>
</file>