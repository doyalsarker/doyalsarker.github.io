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1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A7A7A4-8390-45F8-8A0A-586EC620DF00}"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4281576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A7A7A4-8390-45F8-8A0A-586EC620DF00}"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130430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A7A7A4-8390-45F8-8A0A-586EC620DF00}"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4182143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A7A7A4-8390-45F8-8A0A-586EC620DF00}" type="datetimeFigureOut">
              <a:rPr lang="en-US" smtClean="0"/>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326103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A7A7A4-8390-45F8-8A0A-586EC620DF00}" type="datetimeFigureOut">
              <a:rPr lang="en-US" smtClean="0"/>
              <a:t>3/25/2025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2632743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A7A7A4-8390-45F8-8A0A-586EC620DF00}" type="datetimeFigureOut">
              <a:rPr lang="en-US" smtClean="0"/>
              <a:t>3/25/2025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1682857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A7A7A4-8390-45F8-8A0A-586EC620DF00}" type="datetimeFigureOut">
              <a:rPr lang="en-US" smtClean="0"/>
              <a:t>3/25/2025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191690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DA7A7A4-8390-45F8-8A0A-586EC620DF00}" type="datetimeFigureOut">
              <a:rPr lang="en-US" smtClean="0"/>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691311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DA7A7A4-8390-45F8-8A0A-586EC620DF00}" type="datetimeFigureOut">
              <a:rPr lang="en-US" smtClean="0"/>
              <a:t>3/25/2025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4012048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A7A7A4-8390-45F8-8A0A-586EC620DF00}"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3805172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A7A7A4-8390-45F8-8A0A-586EC620DF00}" type="datetimeFigureOut">
              <a:rPr lang="en-US" smtClean="0"/>
              <a:t>3/25/2025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D3D831-B99E-4835-9D5D-AF334DB11222}" type="slidenum">
              <a:rPr lang="en-US" smtClean="0"/>
              <a:t>‹#›</a:t>
            </a:fld>
            <a:endParaRPr lang="en-US"/>
          </a:p>
        </p:txBody>
      </p:sp>
    </p:spTree>
    <p:extLst>
      <p:ext uri="{BB962C8B-B14F-4D97-AF65-F5344CB8AC3E}">
        <p14:creationId xmlns:p14="http://schemas.microsoft.com/office/powerpoint/2010/main" val="1468384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DDA7A7A4-8390-45F8-8A0A-586EC620DF00}" type="datetimeFigureOut">
              <a:rPr lang="en-US" smtClean="0"/>
              <a:t>3/25/2025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2BD3D831-B99E-4835-9D5D-AF334DB11222}" type="slidenum">
              <a:rPr lang="en-US" smtClean="0"/>
              <a:t>‹#›</a:t>
            </a:fld>
            <a:endParaRPr lang="en-US"/>
          </a:p>
        </p:txBody>
      </p:sp>
    </p:spTree>
    <p:extLst>
      <p:ext uri="{BB962C8B-B14F-4D97-AF65-F5344CB8AC3E}">
        <p14:creationId xmlns:p14="http://schemas.microsoft.com/office/powerpoint/2010/main" val="2631330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6.png"/><Relationship Id="rId26" Type="http://schemas.openxmlformats.org/officeDocument/2006/relationships/image" Target="../media/image23.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4.png"/><Relationship Id="rId12" Type="http://schemas.openxmlformats.org/officeDocument/2006/relationships/image" Target="../media/image6.png"/><Relationship Id="rId17" Type="http://schemas.openxmlformats.org/officeDocument/2006/relationships/image" Target="../media/image15.png"/><Relationship Id="rId25" Type="http://schemas.openxmlformats.org/officeDocument/2006/relationships/image" Target="../media/image22.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hyperlink" Target="https://arpa-e.energy.gov/programs-and-initiatives/view-all-programs/atlantis" TargetMode="External"/><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9.png"/><Relationship Id="rId19"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1.png"/><Relationship Id="rId2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467540-00E2-5F09-6973-20F5BA38C01F}"/>
              </a:ext>
            </a:extLst>
          </p:cNvPr>
          <p:cNvSpPr txBox="1"/>
          <p:nvPr/>
        </p:nvSpPr>
        <p:spPr>
          <a:xfrm>
            <a:off x="0" y="0"/>
            <a:ext cx="43891200" cy="3881575"/>
          </a:xfrm>
          <a:prstGeom prst="rect">
            <a:avLst/>
          </a:prstGeom>
          <a:solidFill>
            <a:schemeClr val="accent6">
              <a:lumMod val="20000"/>
              <a:lumOff val="80000"/>
            </a:schemeClr>
          </a:solidFill>
        </p:spPr>
        <p:txBody>
          <a:bodyPr wrap="square" rtlCol="0">
            <a:spAutoFit/>
          </a:bodyPr>
          <a:lstStyle/>
          <a:p>
            <a:pPr marL="0" marR="0" algn="ctr">
              <a:buNone/>
            </a:pPr>
            <a:r>
              <a:rPr lang="en-US" sz="7000" b="1" kern="100" dirty="0">
                <a:effectLst/>
                <a:latin typeface="Calibri" panose="020F0502020204030204" pitchFamily="34" charset="0"/>
                <a:ea typeface="Calibri" panose="020F0502020204030204" pitchFamily="34" charset="0"/>
                <a:cs typeface="Calibri" panose="020F0502020204030204" pitchFamily="34" charset="0"/>
              </a:rPr>
              <a:t>Development of an AI-Enabled Predictive Hydrodynamics Model                                                            </a:t>
            </a:r>
            <a:endParaRPr lang="en-US" sz="7000" kern="100" dirty="0">
              <a:effectLst/>
              <a:latin typeface="Calibri" panose="020F0502020204030204" pitchFamily="34" charset="0"/>
              <a:ea typeface="Calibri" panose="020F0502020204030204" pitchFamily="34" charset="0"/>
              <a:cs typeface="Calibri" panose="020F0502020204030204" pitchFamily="34" charset="0"/>
            </a:endParaRPr>
          </a:p>
          <a:p>
            <a:pPr marL="0" marR="0" algn="ctr"/>
            <a:r>
              <a:rPr lang="en-US" sz="7000" b="1" kern="100" dirty="0">
                <a:latin typeface="Calibri" panose="020F0502020204030204" pitchFamily="34" charset="0"/>
                <a:ea typeface="Calibri" panose="020F0502020204030204" pitchFamily="34" charset="0"/>
                <a:cs typeface="Calibri" panose="020F0502020204030204" pitchFamily="34" charset="0"/>
              </a:rPr>
              <a:t>For </a:t>
            </a:r>
            <a:r>
              <a:rPr lang="en-US" sz="7000" b="1" kern="100" dirty="0">
                <a:effectLst/>
                <a:latin typeface="Calibri" panose="020F0502020204030204" pitchFamily="34" charset="0"/>
                <a:ea typeface="Calibri" panose="020F0502020204030204" pitchFamily="34" charset="0"/>
                <a:cs typeface="Calibri" panose="020F0502020204030204" pitchFamily="34" charset="0"/>
              </a:rPr>
              <a:t>Floating Offshore Wind Turbines (FOWT)</a:t>
            </a:r>
          </a:p>
          <a:p>
            <a:pPr marL="0" marR="0" algn="ctr">
              <a:lnSpc>
                <a:spcPct val="107000"/>
              </a:lnSpc>
              <a:spcAft>
                <a:spcPts val="800"/>
              </a:spcAft>
            </a:pPr>
            <a:r>
              <a:rPr lang="en-US" sz="3500" b="1" kern="100" dirty="0">
                <a:latin typeface="Calibri" panose="020F0502020204030204" pitchFamily="34" charset="0"/>
                <a:ea typeface="Calibri" panose="020F0502020204030204" pitchFamily="34" charset="0"/>
                <a:cs typeface="Calibri" panose="020F0502020204030204" pitchFamily="34" charset="0"/>
              </a:rPr>
              <a:t>Doyal Sarker, Tri Ngo, Tuhin Das</a:t>
            </a:r>
          </a:p>
          <a:p>
            <a:pPr marL="0" marR="0" algn="ctr">
              <a:lnSpc>
                <a:spcPct val="107000"/>
              </a:lnSpc>
              <a:spcAft>
                <a:spcPts val="800"/>
              </a:spcAft>
            </a:pPr>
            <a:r>
              <a:rPr lang="en-US" sz="3500" b="1" kern="100" dirty="0">
                <a:effectLst/>
                <a:latin typeface="Calibri" panose="020F0502020204030204" pitchFamily="34" charset="0"/>
                <a:ea typeface="Calibri" panose="020F0502020204030204" pitchFamily="34" charset="0"/>
                <a:cs typeface="Calibri" panose="020F0502020204030204" pitchFamily="34" charset="0"/>
              </a:rPr>
              <a:t>University of Cent</a:t>
            </a:r>
            <a:r>
              <a:rPr lang="en-US" sz="3500" b="1" kern="100" dirty="0">
                <a:latin typeface="Calibri" panose="020F0502020204030204" pitchFamily="34" charset="0"/>
                <a:ea typeface="Calibri" panose="020F0502020204030204" pitchFamily="34" charset="0"/>
                <a:cs typeface="Calibri" panose="020F0502020204030204" pitchFamily="34" charset="0"/>
              </a:rPr>
              <a:t>ral Florida, Orlando, FL 32816, USA</a:t>
            </a:r>
            <a:endParaRPr lang="en-US" sz="3500" kern="100" dirty="0">
              <a:effectLst/>
              <a:latin typeface="Calibri" panose="020F0502020204030204" pitchFamily="34" charset="0"/>
              <a:ea typeface="Calibri" panose="020F0502020204030204" pitchFamily="34" charset="0"/>
              <a:cs typeface="Calibri" panose="020F0502020204030204" pitchFamily="34" charset="0"/>
            </a:endParaRPr>
          </a:p>
          <a:p>
            <a:endParaRPr lang="en-US" dirty="0"/>
          </a:p>
        </p:txBody>
      </p:sp>
      <p:pic>
        <p:nvPicPr>
          <p:cNvPr id="5" name="Picture 4" descr="Logo&#10;&#10;Description automatically generated">
            <a:extLst>
              <a:ext uri="{FF2B5EF4-FFF2-40B4-BE49-F238E27FC236}">
                <a16:creationId xmlns:a16="http://schemas.microsoft.com/office/drawing/2014/main" id="{557C9E92-D94E-209C-1A79-DA5EE5BE0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96" y="27176"/>
            <a:ext cx="2883272" cy="3890677"/>
          </a:xfrm>
          <a:prstGeom prst="rect">
            <a:avLst/>
          </a:prstGeom>
        </p:spPr>
      </p:pic>
      <p:pic>
        <p:nvPicPr>
          <p:cNvPr id="7" name="Picture 6">
            <a:extLst>
              <a:ext uri="{FF2B5EF4-FFF2-40B4-BE49-F238E27FC236}">
                <a16:creationId xmlns:a16="http://schemas.microsoft.com/office/drawing/2014/main" id="{603BA010-465D-AF22-0CD7-EC55C5DE22C2}"/>
              </a:ext>
            </a:extLst>
          </p:cNvPr>
          <p:cNvPicPr>
            <a:picLocks noChangeAspect="1"/>
          </p:cNvPicPr>
          <p:nvPr/>
        </p:nvPicPr>
        <p:blipFill>
          <a:blip r:embed="rId3"/>
          <a:stretch>
            <a:fillRect/>
          </a:stretch>
        </p:blipFill>
        <p:spPr>
          <a:xfrm>
            <a:off x="3392868" y="657793"/>
            <a:ext cx="5689201" cy="2344161"/>
          </a:xfrm>
          <a:prstGeom prst="rect">
            <a:avLst/>
          </a:prstGeom>
        </p:spPr>
      </p:pic>
      <p:sp>
        <p:nvSpPr>
          <p:cNvPr id="9" name="Rectangle 8">
            <a:extLst>
              <a:ext uri="{FF2B5EF4-FFF2-40B4-BE49-F238E27FC236}">
                <a16:creationId xmlns:a16="http://schemas.microsoft.com/office/drawing/2014/main" id="{2CF11DCD-46F8-67AD-8E43-70E7A3C05274}"/>
              </a:ext>
            </a:extLst>
          </p:cNvPr>
          <p:cNvSpPr/>
          <p:nvPr/>
        </p:nvSpPr>
        <p:spPr>
          <a:xfrm>
            <a:off x="228600" y="4009293"/>
            <a:ext cx="13167360" cy="2888193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51DEBD13-CEB7-EC46-FDB8-9AEA7B5201DE}"/>
              </a:ext>
            </a:extLst>
          </p:cNvPr>
          <p:cNvSpPr/>
          <p:nvPr/>
        </p:nvSpPr>
        <p:spPr>
          <a:xfrm>
            <a:off x="13530714" y="4009293"/>
            <a:ext cx="15448545" cy="2888193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p>
        </p:txBody>
      </p:sp>
      <p:sp>
        <p:nvSpPr>
          <p:cNvPr id="11" name="Rectangle 10">
            <a:extLst>
              <a:ext uri="{FF2B5EF4-FFF2-40B4-BE49-F238E27FC236}">
                <a16:creationId xmlns:a16="http://schemas.microsoft.com/office/drawing/2014/main" id="{2609066B-2459-7CB6-8394-F6544BE43798}"/>
              </a:ext>
            </a:extLst>
          </p:cNvPr>
          <p:cNvSpPr/>
          <p:nvPr/>
        </p:nvSpPr>
        <p:spPr>
          <a:xfrm>
            <a:off x="29188609" y="4009293"/>
            <a:ext cx="14473991" cy="2887282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D17AC2C1-44C8-89EB-9299-607057495700}"/>
              </a:ext>
            </a:extLst>
          </p:cNvPr>
          <p:cNvSpPr txBox="1"/>
          <p:nvPr/>
        </p:nvSpPr>
        <p:spPr>
          <a:xfrm>
            <a:off x="280996" y="4055013"/>
            <a:ext cx="13114964" cy="707886"/>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Introduction</a:t>
            </a:r>
          </a:p>
        </p:txBody>
      </p:sp>
      <p:sp>
        <p:nvSpPr>
          <p:cNvPr id="13" name="TextBox 12">
            <a:extLst>
              <a:ext uri="{FF2B5EF4-FFF2-40B4-BE49-F238E27FC236}">
                <a16:creationId xmlns:a16="http://schemas.microsoft.com/office/drawing/2014/main" id="{7CBA665E-E7FD-8535-DB6F-4D991148340D}"/>
              </a:ext>
            </a:extLst>
          </p:cNvPr>
          <p:cNvSpPr txBox="1"/>
          <p:nvPr/>
        </p:nvSpPr>
        <p:spPr>
          <a:xfrm>
            <a:off x="280996" y="4762899"/>
            <a:ext cx="13114964" cy="4324261"/>
          </a:xfrm>
          <a:prstGeom prst="rect">
            <a:avLst/>
          </a:prstGeom>
          <a:noFill/>
        </p:spPr>
        <p:txBody>
          <a:bodyPr wrap="square" rtlCol="0">
            <a:spAutoFit/>
          </a:bodyPr>
          <a:lstStyle/>
          <a:p>
            <a:pPr algn="just"/>
            <a:r>
              <a:rPr lang="en-US" sz="2500" dirty="0">
                <a:effectLst/>
                <a:latin typeface="Calibri" panose="020F0502020204030204" pitchFamily="34" charset="0"/>
                <a:ea typeface="Calibri" panose="020F0502020204030204" pitchFamily="34" charset="0"/>
                <a:cs typeface="Calibri" panose="020F0502020204030204" pitchFamily="34" charset="0"/>
              </a:rPr>
              <a:t>Floating offshore wind turbines (FOWTs) are pivotal in providing resilient and self-sufficient renewable energy, accessing oceanic wind resources. </a:t>
            </a:r>
          </a:p>
          <a:p>
            <a:pPr marL="342900" indent="-342900" algn="just">
              <a:buFont typeface="Wingdings" panose="05000000000000000000" pitchFamily="2" charset="2"/>
              <a:buChar char="v"/>
            </a:pPr>
            <a:r>
              <a:rPr lang="en-US" sz="2500" dirty="0">
                <a:latin typeface="Calibri" panose="020F0502020204030204" pitchFamily="34" charset="0"/>
                <a:ea typeface="Calibri" panose="020F0502020204030204" pitchFamily="34" charset="0"/>
                <a:cs typeface="Calibri" panose="020F0502020204030204" pitchFamily="34" charset="0"/>
              </a:rPr>
              <a:t>Challenge in stability maintain and deployment necessitating the accurate loads modeling </a:t>
            </a:r>
          </a:p>
          <a:p>
            <a:pPr marL="342900" indent="-342900" algn="just">
              <a:buFont typeface="Wingdings" panose="05000000000000000000" pitchFamily="2" charset="2"/>
              <a:buChar char="v"/>
            </a:pPr>
            <a:r>
              <a:rPr lang="en-US" sz="2500" b="1" dirty="0">
                <a:latin typeface="Calibri" panose="020F0502020204030204" pitchFamily="34" charset="0"/>
                <a:ea typeface="Calibri" panose="020F0502020204030204" pitchFamily="34" charset="0"/>
                <a:cs typeface="Calibri" panose="020F0502020204030204" pitchFamily="34" charset="0"/>
              </a:rPr>
              <a:t>Accurate hydrodynamic modeling</a:t>
            </a:r>
            <a:r>
              <a:rPr lang="en-US" sz="2500" dirty="0">
                <a:latin typeface="Calibri" panose="020F0502020204030204" pitchFamily="34" charset="0"/>
                <a:ea typeface="Calibri" panose="020F0502020204030204" pitchFamily="34" charset="0"/>
                <a:cs typeface="Calibri" panose="020F0502020204030204" pitchFamily="34" charset="0"/>
              </a:rPr>
              <a:t> is crucial for predicting FOWT dynamic responses.</a:t>
            </a:r>
          </a:p>
          <a:p>
            <a:pPr marL="342900" indent="-342900" algn="just">
              <a:buFont typeface="Wingdings" panose="05000000000000000000" pitchFamily="2" charset="2"/>
              <a:buChar char="v"/>
            </a:pPr>
            <a:r>
              <a:rPr lang="en-US" sz="2500" dirty="0">
                <a:latin typeface="Calibri" panose="020F0502020204030204" pitchFamily="34" charset="0"/>
                <a:ea typeface="Calibri" panose="020F0502020204030204" pitchFamily="34" charset="0"/>
                <a:cs typeface="Calibri" panose="020F0502020204030204" pitchFamily="34" charset="0"/>
              </a:rPr>
              <a:t>Hydrodynamic coefficients (</a:t>
            </a:r>
            <a:r>
              <a:rPr lang="en-US" sz="2500" b="1" dirty="0">
                <a:latin typeface="Calibri" panose="020F0502020204030204" pitchFamily="34" charset="0"/>
                <a:ea typeface="Calibri" panose="020F0502020204030204" pitchFamily="34" charset="0"/>
                <a:cs typeface="Calibri" panose="020F0502020204030204" pitchFamily="34" charset="0"/>
              </a:rPr>
              <a:t>added mass, damping, and drag</a:t>
            </a:r>
            <a:r>
              <a:rPr lang="en-US" sz="2500" dirty="0">
                <a:latin typeface="Calibri" panose="020F0502020204030204" pitchFamily="34" charset="0"/>
                <a:ea typeface="Calibri" panose="020F0502020204030204" pitchFamily="34" charset="0"/>
                <a:cs typeface="Calibri" panose="020F0502020204030204" pitchFamily="34" charset="0"/>
              </a:rPr>
              <a:t>) significantly influence platform behavior and are highly sensitive to design, fluid flow and environmental conditions</a:t>
            </a:r>
          </a:p>
          <a:p>
            <a:pPr marL="342900" indent="-342900" algn="just">
              <a:buFont typeface="Wingdings" panose="05000000000000000000" pitchFamily="2" charset="2"/>
              <a:buChar char="v"/>
            </a:pPr>
            <a:r>
              <a:rPr lang="en-US" sz="2500" dirty="0">
                <a:latin typeface="Calibri" panose="020F0502020204030204" pitchFamily="34" charset="0"/>
                <a:ea typeface="Calibri" panose="020F0502020204030204" pitchFamily="34" charset="0"/>
                <a:cs typeface="Calibri" panose="020F0502020204030204" pitchFamily="34" charset="0"/>
              </a:rPr>
              <a:t>A case-by-case comparable wave simulation against experiment requires different set of hydrodynamic coefficients, hence, manual tuning needs be performed. </a:t>
            </a:r>
          </a:p>
          <a:p>
            <a:pPr marL="342900" indent="-342900" algn="just">
              <a:buFont typeface="Wingdings" panose="05000000000000000000" pitchFamily="2" charset="2"/>
              <a:buChar char="v"/>
            </a:pPr>
            <a:r>
              <a:rPr lang="en-US" sz="2500" dirty="0">
                <a:latin typeface="Calibri" panose="020F0502020204030204" pitchFamily="34" charset="0"/>
                <a:ea typeface="Calibri" panose="020F0502020204030204" pitchFamily="34" charset="0"/>
                <a:cs typeface="Calibri" panose="020F0502020204030204" pitchFamily="34" charset="0"/>
              </a:rPr>
              <a:t>A </a:t>
            </a:r>
            <a:r>
              <a:rPr lang="en-US" sz="2500" b="1" dirty="0">
                <a:latin typeface="Calibri" panose="020F0502020204030204" pitchFamily="34" charset="0"/>
                <a:ea typeface="Calibri" panose="020F0502020204030204" pitchFamily="34" charset="0"/>
                <a:cs typeface="Calibri" panose="020F0502020204030204" pitchFamily="34" charset="0"/>
              </a:rPr>
              <a:t>Genetic Algorithm (GA)</a:t>
            </a:r>
            <a:r>
              <a:rPr lang="en-US" sz="2500" dirty="0">
                <a:latin typeface="Calibri" panose="020F0502020204030204" pitchFamily="34" charset="0"/>
                <a:ea typeface="Calibri" panose="020F0502020204030204" pitchFamily="34" charset="0"/>
                <a:cs typeface="Calibri" panose="020F0502020204030204" pitchFamily="34" charset="0"/>
              </a:rPr>
              <a:t> optimizes these hydrodynamic coefficients automatically using experimental data (decay tests and wave conditions).</a:t>
            </a:r>
          </a:p>
          <a:p>
            <a:pPr marL="342900" indent="-342900" algn="just">
              <a:buFont typeface="Wingdings" panose="05000000000000000000" pitchFamily="2" charset="2"/>
              <a:buChar char="v"/>
            </a:pPr>
            <a:endParaRPr lang="en-US" sz="2500" dirty="0">
              <a:latin typeface="Calibri" panose="020F0502020204030204" pitchFamily="34" charset="0"/>
              <a:ea typeface="Calibri" panose="020F0502020204030204" pitchFamily="34" charset="0"/>
              <a:cs typeface="Calibri" panose="020F0502020204030204" pitchFamily="34" charset="0"/>
            </a:endParaRPr>
          </a:p>
        </p:txBody>
      </p:sp>
      <p:pic>
        <p:nvPicPr>
          <p:cNvPr id="17" name="Picture 16" descr="A diagram of a diagram of a machine&#10;&#10;AI-generated content may be incorrect.">
            <a:extLst>
              <a:ext uri="{FF2B5EF4-FFF2-40B4-BE49-F238E27FC236}">
                <a16:creationId xmlns:a16="http://schemas.microsoft.com/office/drawing/2014/main" id="{13C84F5B-57D6-24DE-A1C4-56C1D5EB6B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5769" y="8739737"/>
            <a:ext cx="9129852" cy="5583324"/>
          </a:xfrm>
          <a:prstGeom prst="rect">
            <a:avLst/>
          </a:prstGeom>
        </p:spPr>
      </p:pic>
      <p:sp>
        <p:nvSpPr>
          <p:cNvPr id="18" name="TextBox 17">
            <a:extLst>
              <a:ext uri="{FF2B5EF4-FFF2-40B4-BE49-F238E27FC236}">
                <a16:creationId xmlns:a16="http://schemas.microsoft.com/office/drawing/2014/main" id="{29B59F8E-6B9F-AA3F-825E-004102911E8E}"/>
              </a:ext>
            </a:extLst>
          </p:cNvPr>
          <p:cNvSpPr txBox="1"/>
          <p:nvPr/>
        </p:nvSpPr>
        <p:spPr>
          <a:xfrm>
            <a:off x="2155769" y="13549763"/>
            <a:ext cx="7628021" cy="861774"/>
          </a:xfrm>
          <a:prstGeom prst="rect">
            <a:avLst/>
          </a:prstGeom>
          <a:noFill/>
        </p:spPr>
        <p:txBody>
          <a:bodyPr wrap="square" rtlCol="0">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Semi-submersible [1] (left) and Spar-buoy [2] (right) platforms</a:t>
            </a:r>
          </a:p>
        </p:txBody>
      </p:sp>
      <p:sp>
        <p:nvSpPr>
          <p:cNvPr id="19" name="TextBox 18">
            <a:extLst>
              <a:ext uri="{FF2B5EF4-FFF2-40B4-BE49-F238E27FC236}">
                <a16:creationId xmlns:a16="http://schemas.microsoft.com/office/drawing/2014/main" id="{1574ED8D-75CE-C358-A18D-FF75FE62DF0E}"/>
              </a:ext>
            </a:extLst>
          </p:cNvPr>
          <p:cNvSpPr txBox="1"/>
          <p:nvPr/>
        </p:nvSpPr>
        <p:spPr>
          <a:xfrm>
            <a:off x="289018" y="14482384"/>
            <a:ext cx="13106942" cy="707886"/>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Methodology</a:t>
            </a:r>
          </a:p>
        </p:txBody>
      </p:sp>
      <p:sp>
        <p:nvSpPr>
          <p:cNvPr id="22" name="TextBox 21">
            <a:extLst>
              <a:ext uri="{FF2B5EF4-FFF2-40B4-BE49-F238E27FC236}">
                <a16:creationId xmlns:a16="http://schemas.microsoft.com/office/drawing/2014/main" id="{E987639B-C4E9-E281-C0ED-FE2EF0E58140}"/>
              </a:ext>
            </a:extLst>
          </p:cNvPr>
          <p:cNvSpPr txBox="1"/>
          <p:nvPr/>
        </p:nvSpPr>
        <p:spPr>
          <a:xfrm>
            <a:off x="289018" y="15262463"/>
            <a:ext cx="4716119" cy="477054"/>
          </a:xfrm>
          <a:prstGeom prst="rect">
            <a:avLst/>
          </a:prstGeom>
          <a:noFill/>
        </p:spPr>
        <p:txBody>
          <a:bodyPr wrap="square" rtlCol="0">
            <a:spAutoFit/>
          </a:bodyPr>
          <a:lstStyle/>
          <a:p>
            <a:pPr marL="342900" indent="-342900">
              <a:buFont typeface="Wingdings" panose="05000000000000000000" pitchFamily="2" charset="2"/>
              <a:buChar char="Ø"/>
            </a:pPr>
            <a:r>
              <a:rPr lang="en-US" sz="2500" b="1" dirty="0">
                <a:latin typeface="Calibri" panose="020F0502020204030204" pitchFamily="34" charset="0"/>
                <a:ea typeface="Calibri" panose="020F0502020204030204" pitchFamily="34" charset="0"/>
                <a:cs typeface="Calibri" panose="020F0502020204030204" pitchFamily="34" charset="0"/>
              </a:rPr>
              <a:t>Hydrodynamics Modeling</a:t>
            </a:r>
          </a:p>
        </p:txBody>
      </p:sp>
      <p:sp>
        <p:nvSpPr>
          <p:cNvPr id="23" name="TextBox 22">
            <a:extLst>
              <a:ext uri="{FF2B5EF4-FFF2-40B4-BE49-F238E27FC236}">
                <a16:creationId xmlns:a16="http://schemas.microsoft.com/office/drawing/2014/main" id="{2884F0EA-167C-46CC-32CE-0C8FF3A9471B}"/>
              </a:ext>
            </a:extLst>
          </p:cNvPr>
          <p:cNvSpPr txBox="1"/>
          <p:nvPr/>
        </p:nvSpPr>
        <p:spPr>
          <a:xfrm>
            <a:off x="313081" y="15737308"/>
            <a:ext cx="12921656" cy="1523494"/>
          </a:xfrm>
          <a:prstGeom prst="rect">
            <a:avLst/>
          </a:prstGeom>
          <a:noFill/>
        </p:spPr>
        <p:txBody>
          <a:bodyPr wrap="square" rtlCol="0">
            <a:spAutoFit/>
          </a:bodyPr>
          <a:lstStyle/>
          <a:p>
            <a:pPr algn="just"/>
            <a:r>
              <a:rPr lang="en-US" sz="2500" b="0" i="0" u="none" strike="noStrike" baseline="0" dirty="0">
                <a:latin typeface="Calibri" panose="020F0502020204030204" pitchFamily="34" charset="0"/>
                <a:ea typeface="Calibri" panose="020F0502020204030204" pitchFamily="34" charset="0"/>
                <a:cs typeface="Calibri" panose="020F0502020204030204" pitchFamily="34" charset="0"/>
              </a:rPr>
              <a:t>The hydrodynamics loads modeled in CRAFTS (Control oriented, Reconfigurable and Acausal Floating Turbine Simulator) include the radiation induced added mass, wave excitation and non-linear viscous drag using Morison equation </a:t>
            </a:r>
            <a:r>
              <a:rPr lang="en-US" sz="2500" dirty="0">
                <a:latin typeface="Calibri" panose="020F0502020204030204" pitchFamily="34" charset="0"/>
                <a:ea typeface="Calibri" panose="020F0502020204030204" pitchFamily="34" charset="0"/>
                <a:cs typeface="Calibri" panose="020F0502020204030204" pitchFamily="34" charset="0"/>
              </a:rPr>
              <a:t>in relative form [3].</a:t>
            </a:r>
          </a:p>
          <a:p>
            <a:endParaRPr lang="en-US"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55F602A-C241-BACF-D7BC-215591B41477}"/>
                  </a:ext>
                </a:extLst>
              </p:cNvPr>
              <p:cNvSpPr txBox="1"/>
              <p:nvPr/>
            </p:nvSpPr>
            <p:spPr>
              <a:xfrm>
                <a:off x="433396" y="17042738"/>
                <a:ext cx="12753214" cy="774892"/>
              </a:xfrm>
              <a:prstGeom prst="rect">
                <a:avLst/>
              </a:prstGeom>
              <a:noFill/>
            </p:spPr>
            <p:txBody>
              <a:bodyPr wrap="square" rtlCol="0">
                <a:spAutoFit/>
              </a:bodyPr>
              <a:lstStyle/>
              <a:p>
                <a14:m>
                  <m:oMath xmlns:m="http://schemas.openxmlformats.org/officeDocument/2006/math">
                    <m:r>
                      <a:rPr lang="en-US" sz="2800" b="0" i="1" smtClean="0">
                        <a:latin typeface="Cambria Math" panose="02040503050406030204" pitchFamily="18" charset="0"/>
                      </a:rPr>
                      <m:t>𝑑</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𝐹</m:t>
                        </m:r>
                      </m:e>
                      <m:sub>
                        <m:r>
                          <a:rPr lang="en-US" sz="2800" b="0" i="1" smtClean="0">
                            <a:latin typeface="Cambria Math" panose="02040503050406030204" pitchFamily="18" charset="0"/>
                          </a:rPr>
                          <m:t>𝑖</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𝑧</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𝑎</m:t>
                        </m:r>
                      </m:sub>
                    </m:sSub>
                    <m:r>
                      <a:rPr lang="en-US" sz="2800" b="0" i="1" smtClean="0">
                        <a:latin typeface="Cambria Math" panose="02040503050406030204" pitchFamily="18" charset="0"/>
                      </a:rPr>
                      <m:t>𝜌</m:t>
                    </m:r>
                    <m:acc>
                      <m:accPr>
                        <m:chr m:val="̈"/>
                        <m:ctrlPr>
                          <a:rPr lang="en-US" sz="2800" b="0" i="1" smtClean="0">
                            <a:latin typeface="Cambria Math" panose="02040503050406030204" pitchFamily="18" charset="0"/>
                          </a:rPr>
                        </m:ctrlPr>
                      </m:acc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𝑟</m:t>
                            </m:r>
                          </m:e>
                          <m:sub>
                            <m:r>
                              <a:rPr lang="en-US" sz="2800" b="0" i="1" smtClean="0">
                                <a:latin typeface="Cambria Math" panose="02040503050406030204" pitchFamily="18" charset="0"/>
                              </a:rPr>
                              <m:t>𝑖</m:t>
                            </m:r>
                          </m:sub>
                        </m:sSub>
                      </m:e>
                    </m:acc>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𝜋</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𝐷</m:t>
                                </m:r>
                              </m:e>
                              <m:sup>
                                <m:r>
                                  <a:rPr lang="en-US" sz="2800" b="0" i="1" smtClean="0">
                                    <a:latin typeface="Cambria Math" panose="02040503050406030204" pitchFamily="18" charset="0"/>
                                  </a:rPr>
                                  <m:t>2</m:t>
                                </m:r>
                              </m:sup>
                            </m:sSup>
                          </m:num>
                          <m:den>
                            <m:r>
                              <a:rPr lang="en-US" sz="2800" b="0" i="1" smtClean="0">
                                <a:latin typeface="Cambria Math" panose="02040503050406030204" pitchFamily="18" charset="0"/>
                              </a:rPr>
                              <m:t>4</m:t>
                            </m:r>
                          </m:den>
                        </m:f>
                      </m:e>
                    </m:d>
                    <m:r>
                      <a:rPr lang="en-US" sz="2800" b="0" i="1" smtClean="0">
                        <a:latin typeface="Cambria Math" panose="02040503050406030204" pitchFamily="18" charset="0"/>
                      </a:rPr>
                      <m:t>𝑑𝑧</m:t>
                    </m:r>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𝑎</m:t>
                            </m:r>
                          </m:sub>
                        </m:sSub>
                      </m:e>
                    </m:d>
                    <m:r>
                      <a:rPr lang="en-US" sz="2800" b="0" i="1" smtClean="0">
                        <a:latin typeface="Cambria Math" panose="02040503050406030204" pitchFamily="18" charset="0"/>
                      </a:rPr>
                      <m:t>𝜌</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𝑢</m:t>
                            </m:r>
                          </m:e>
                        </m:acc>
                      </m:e>
                      <m:sub>
                        <m:r>
                          <a:rPr lang="en-US" sz="2800" b="0" i="1" smtClean="0">
                            <a:latin typeface="Cambria Math" panose="02040503050406030204" pitchFamily="18" charset="0"/>
                          </a:rPr>
                          <m:t>𝑖</m:t>
                        </m:r>
                      </m:sub>
                    </m:sSub>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𝜋</m:t>
                            </m:r>
                            <m:sSup>
                              <m:sSupPr>
                                <m:ctrlPr>
                                  <a:rPr lang="en-US" sz="2800" i="1">
                                    <a:latin typeface="Cambria Math" panose="02040503050406030204" pitchFamily="18" charset="0"/>
                                  </a:rPr>
                                </m:ctrlPr>
                              </m:sSupPr>
                              <m:e>
                                <m:r>
                                  <a:rPr lang="en-US" sz="2800" i="1">
                                    <a:latin typeface="Cambria Math" panose="02040503050406030204" pitchFamily="18" charset="0"/>
                                  </a:rPr>
                                  <m:t>𝐷</m:t>
                                </m:r>
                              </m:e>
                              <m:sup>
                                <m:r>
                                  <a:rPr lang="en-US" sz="2800" i="1">
                                    <a:latin typeface="Cambria Math" panose="02040503050406030204" pitchFamily="18" charset="0"/>
                                  </a:rPr>
                                  <m:t>2</m:t>
                                </m:r>
                              </m:sup>
                            </m:sSup>
                          </m:num>
                          <m:den>
                            <m:r>
                              <a:rPr lang="en-US" sz="2800" i="1">
                                <a:latin typeface="Cambria Math" panose="02040503050406030204" pitchFamily="18" charset="0"/>
                              </a:rPr>
                              <m:t>4</m:t>
                            </m:r>
                          </m:den>
                        </m:f>
                      </m:e>
                    </m:d>
                    <m:r>
                      <a:rPr lang="en-US" sz="2800" i="1">
                        <a:latin typeface="Cambria Math" panose="02040503050406030204" pitchFamily="18" charset="0"/>
                      </a:rPr>
                      <m:t>𝑑𝑧</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𝐶</m:t>
                        </m:r>
                      </m:e>
                      <m:sub>
                        <m:r>
                          <a:rPr lang="en-US" sz="2800" b="0" i="1" smtClean="0">
                            <a:latin typeface="Cambria Math" panose="02040503050406030204" pitchFamily="18" charset="0"/>
                          </a:rPr>
                          <m:t>𝑑</m:t>
                        </m:r>
                      </m:sub>
                    </m:sSub>
                    <m:r>
                      <a:rPr lang="en-US" sz="2800" b="0" i="1" smtClean="0">
                        <a:latin typeface="Cambria Math" panose="02040503050406030204" pitchFamily="18" charset="0"/>
                      </a:rPr>
                      <m:t>𝜌</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𝑟</m:t>
                            </m:r>
                          </m:e>
                        </m:acc>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𝑢</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acc>
                              <m:accPr>
                                <m:chr m:val="̇"/>
                                <m:ctrlPr>
                                  <a:rPr lang="en-US" sz="2800" i="1">
                                    <a:latin typeface="Cambria Math" panose="02040503050406030204" pitchFamily="18" charset="0"/>
                                  </a:rPr>
                                </m:ctrlPr>
                              </m:accPr>
                              <m:e>
                                <m:r>
                                  <a:rPr lang="en-US" sz="2800" i="1">
                                    <a:latin typeface="Cambria Math" panose="02040503050406030204" pitchFamily="18" charset="0"/>
                                  </a:rPr>
                                  <m:t>𝑟</m:t>
                                </m:r>
                              </m:e>
                            </m:acc>
                          </m:e>
                          <m:sub>
                            <m:r>
                              <a:rPr lang="en-US" sz="2800" i="1">
                                <a:latin typeface="Cambria Math" panose="02040503050406030204" pitchFamily="18" charset="0"/>
                              </a:rPr>
                              <m:t>𝑖</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𝐷𝑑𝑧</m:t>
                    </m:r>
                    <m:r>
                      <a:rPr lang="en-US" sz="2800" b="0" i="1" smtClean="0">
                        <a:latin typeface="Cambria Math" panose="02040503050406030204" pitchFamily="18" charset="0"/>
                      </a:rPr>
                      <m:t>)</m:t>
                    </m:r>
                  </m:oMath>
                </a14:m>
                <a:r>
                  <a:rPr lang="en-US" sz="2800" dirty="0"/>
                  <a:t> </a:t>
                </a:r>
              </a:p>
            </p:txBody>
          </p:sp>
        </mc:Choice>
        <mc:Fallback xmlns="">
          <p:sp>
            <p:nvSpPr>
              <p:cNvPr id="24" name="TextBox 23">
                <a:extLst>
                  <a:ext uri="{FF2B5EF4-FFF2-40B4-BE49-F238E27FC236}">
                    <a16:creationId xmlns:a16="http://schemas.microsoft.com/office/drawing/2014/main" id="{755F602A-C241-BACF-D7BC-215591B41477}"/>
                  </a:ext>
                </a:extLst>
              </p:cNvPr>
              <p:cNvSpPr txBox="1">
                <a:spLocks noRot="1" noChangeAspect="1" noMove="1" noResize="1" noEditPoints="1" noAdjustHandles="1" noChangeArrowheads="1" noChangeShapeType="1" noTextEdit="1"/>
              </p:cNvSpPr>
              <p:nvPr/>
            </p:nvSpPr>
            <p:spPr>
              <a:xfrm>
                <a:off x="433396" y="17042738"/>
                <a:ext cx="12753214" cy="774892"/>
              </a:xfrm>
              <a:prstGeom prst="rect">
                <a:avLst/>
              </a:prstGeom>
              <a:blipFill>
                <a:blip r:embed="rId6"/>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9D9156E3-5152-05CE-157F-ED3AD64F81AF}"/>
              </a:ext>
            </a:extLst>
          </p:cNvPr>
          <p:cNvSpPr txBox="1"/>
          <p:nvPr/>
        </p:nvSpPr>
        <p:spPr>
          <a:xfrm>
            <a:off x="433395" y="18034197"/>
            <a:ext cx="5919279" cy="3170099"/>
          </a:xfrm>
          <a:prstGeom prst="rect">
            <a:avLst/>
          </a:prstGeom>
          <a:noFill/>
        </p:spPr>
        <p:txBody>
          <a:bodyPr wrap="square" rtlCol="0">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CRAFTS Feature:</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Acausal plug and play, </a:t>
            </a:r>
            <a:r>
              <a:rPr lang="en-US" sz="2500" dirty="0" err="1">
                <a:latin typeface="Calibri" panose="020F0502020204030204" pitchFamily="34" charset="0"/>
                <a:ea typeface="Calibri" panose="020F0502020204030204" pitchFamily="34" charset="0"/>
                <a:cs typeface="Calibri" panose="020F0502020204030204" pitchFamily="34" charset="0"/>
              </a:rPr>
              <a:t>Modelica</a:t>
            </a:r>
            <a:r>
              <a:rPr lang="en-US" sz="2500" dirty="0">
                <a:latin typeface="Calibri" panose="020F0502020204030204" pitchFamily="34" charset="0"/>
                <a:ea typeface="Calibri" panose="020F0502020204030204" pitchFamily="34" charset="0"/>
                <a:cs typeface="Calibri" panose="020F0502020204030204" pitchFamily="34" charset="0"/>
              </a:rPr>
              <a:t> language</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Library-based, modular, and hierarchical architecture</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Reusability of existing model without extensive re-modeling</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Integrable with causal platform like MATLAB</a:t>
            </a:r>
          </a:p>
        </p:txBody>
      </p:sp>
      <p:sp>
        <p:nvSpPr>
          <p:cNvPr id="26" name="TextBox 25">
            <a:extLst>
              <a:ext uri="{FF2B5EF4-FFF2-40B4-BE49-F238E27FC236}">
                <a16:creationId xmlns:a16="http://schemas.microsoft.com/office/drawing/2014/main" id="{54922352-864F-5E08-8022-5C801925328F}"/>
              </a:ext>
            </a:extLst>
          </p:cNvPr>
          <p:cNvSpPr txBox="1"/>
          <p:nvPr/>
        </p:nvSpPr>
        <p:spPr>
          <a:xfrm>
            <a:off x="7082842" y="18046262"/>
            <a:ext cx="6151895" cy="2785378"/>
          </a:xfrm>
          <a:prstGeom prst="rect">
            <a:avLst/>
          </a:prstGeom>
          <a:noFill/>
        </p:spPr>
        <p:txBody>
          <a:bodyPr wrap="square" rtlCol="0">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CRAFTS Hydrodynamics Feature:</a:t>
            </a:r>
          </a:p>
          <a:p>
            <a:pPr marL="342900" indent="-34290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Component level and distributed loadings</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First and Second order wave modeling</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Wave stretching </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Mac-Camy Fuchs (MCF) diffraction correction</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Kinematics Spatial effect for large structure</a:t>
            </a:r>
          </a:p>
        </p:txBody>
      </p:sp>
      <p:sp>
        <p:nvSpPr>
          <p:cNvPr id="27" name="TextBox 26">
            <a:extLst>
              <a:ext uri="{FF2B5EF4-FFF2-40B4-BE49-F238E27FC236}">
                <a16:creationId xmlns:a16="http://schemas.microsoft.com/office/drawing/2014/main" id="{F1AF5ED4-D7B1-133A-B20C-BEEB54078D4C}"/>
              </a:ext>
            </a:extLst>
          </p:cNvPr>
          <p:cNvSpPr txBox="1"/>
          <p:nvPr/>
        </p:nvSpPr>
        <p:spPr>
          <a:xfrm>
            <a:off x="337144" y="21237363"/>
            <a:ext cx="10515340" cy="477054"/>
          </a:xfrm>
          <a:prstGeom prst="rect">
            <a:avLst/>
          </a:prstGeom>
          <a:noFill/>
        </p:spPr>
        <p:txBody>
          <a:bodyPr wrap="square" rtlCol="0">
            <a:spAutoFit/>
          </a:bodyPr>
          <a:lstStyle/>
          <a:p>
            <a:pPr marL="342900" indent="-342900">
              <a:buFont typeface="Wingdings" panose="05000000000000000000" pitchFamily="2" charset="2"/>
              <a:buChar char="Ø"/>
            </a:pPr>
            <a:r>
              <a:rPr lang="en-US" sz="2500" b="1" dirty="0">
                <a:latin typeface="Calibri" panose="020F0502020204030204" pitchFamily="34" charset="0"/>
                <a:ea typeface="Calibri" panose="020F0502020204030204" pitchFamily="34" charset="0"/>
                <a:cs typeface="Calibri" panose="020F0502020204030204" pitchFamily="34" charset="0"/>
              </a:rPr>
              <a:t>GA Optimization Framework (Interface between CRAFTS and MATLAB)</a:t>
            </a:r>
          </a:p>
        </p:txBody>
      </p:sp>
      <p:sp>
        <p:nvSpPr>
          <p:cNvPr id="29" name="TextBox 28">
            <a:extLst>
              <a:ext uri="{FF2B5EF4-FFF2-40B4-BE49-F238E27FC236}">
                <a16:creationId xmlns:a16="http://schemas.microsoft.com/office/drawing/2014/main" id="{9236A0F2-E34E-3C11-07D6-26977618A53F}"/>
              </a:ext>
            </a:extLst>
          </p:cNvPr>
          <p:cNvSpPr txBox="1"/>
          <p:nvPr/>
        </p:nvSpPr>
        <p:spPr>
          <a:xfrm>
            <a:off x="433395" y="21697757"/>
            <a:ext cx="12392268" cy="861774"/>
          </a:xfrm>
          <a:prstGeom prst="rect">
            <a:avLst/>
          </a:prstGeom>
          <a:noFill/>
        </p:spPr>
        <p:txBody>
          <a:bodyPr wrap="square">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The design optimization framework is implemented by integrating the CRAFTS library with the MATLAB-SIMULINK graphical programming environment.</a:t>
            </a:r>
          </a:p>
        </p:txBody>
      </p:sp>
      <p:pic>
        <p:nvPicPr>
          <p:cNvPr id="31" name="Picture 30" descr="A diagram of a wind turbine&#10;&#10;AI-generated content may be incorrect.">
            <a:extLst>
              <a:ext uri="{FF2B5EF4-FFF2-40B4-BE49-F238E27FC236}">
                <a16:creationId xmlns:a16="http://schemas.microsoft.com/office/drawing/2014/main" id="{52C9454C-832F-5666-9A0A-69B2A3B1F7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2472" y="22654592"/>
            <a:ext cx="11129272" cy="7620042"/>
          </a:xfrm>
          <a:prstGeom prst="rect">
            <a:avLst/>
          </a:prstGeom>
        </p:spPr>
      </p:pic>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E8354EF-381C-1295-0F14-8D07EDD35A94}"/>
                  </a:ext>
                </a:extLst>
              </p:cNvPr>
              <p:cNvSpPr txBox="1"/>
              <p:nvPr/>
            </p:nvSpPr>
            <p:spPr>
              <a:xfrm>
                <a:off x="313081" y="30402352"/>
                <a:ext cx="12897593" cy="2433551"/>
              </a:xfrm>
              <a:prstGeom prst="rect">
                <a:avLst/>
              </a:prstGeom>
              <a:noFill/>
            </p:spPr>
            <p:txBody>
              <a:bodyPr wrap="square" rtlCol="0">
                <a:spAutoFit/>
              </a:bodyPr>
              <a:lstStyle/>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A set of N design variables or candidate solutions (</a:t>
                </a:r>
                <a:r>
                  <a:rPr lang="en-US" sz="2500" b="1" dirty="0">
                    <a:latin typeface="Calibri" panose="020F0502020204030204" pitchFamily="34" charset="0"/>
                    <a:ea typeface="Calibri" panose="020F0502020204030204" pitchFamily="34" charset="0"/>
                    <a:cs typeface="Calibri" panose="020F0502020204030204" pitchFamily="34" charset="0"/>
                  </a:rPr>
                  <a:t>x</a:t>
                </a:r>
                <a:r>
                  <a:rPr lang="en-US" sz="2500" dirty="0">
                    <a:latin typeface="Calibri" panose="020F0502020204030204" pitchFamily="34" charset="0"/>
                    <a:ea typeface="Calibri" panose="020F0502020204030204" pitchFamily="34" charset="0"/>
                    <a:cs typeface="Calibri" panose="020F0502020204030204" pitchFamily="34" charset="0"/>
                  </a:rPr>
                  <a:t>) is generated within the lower (</a:t>
                </a:r>
                <a14:m>
                  <m:oMath xmlns:m="http://schemas.openxmlformats.org/officeDocument/2006/math">
                    <m:sSup>
                      <m:s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p>
                        <m:r>
                          <a:rPr lang="en-US" sz="2500" b="0" i="1" smtClean="0">
                            <a:latin typeface="Cambria Math" panose="02040503050406030204" pitchFamily="18" charset="0"/>
                            <a:ea typeface="Calibri" panose="020F0502020204030204" pitchFamily="34" charset="0"/>
                            <a:cs typeface="Calibri" panose="020F0502020204030204" pitchFamily="34" charset="0"/>
                          </a:rPr>
                          <m:t>𝐿</m:t>
                        </m:r>
                      </m:sup>
                    </m:sSup>
                  </m:oMath>
                </a14:m>
                <a:r>
                  <a:rPr lang="en-US" sz="2500" dirty="0">
                    <a:latin typeface="Calibri" panose="020F0502020204030204" pitchFamily="34" charset="0"/>
                    <a:ea typeface="Calibri" panose="020F0502020204030204" pitchFamily="34" charset="0"/>
                    <a:cs typeface="Calibri" panose="020F0502020204030204" pitchFamily="34" charset="0"/>
                  </a:rPr>
                  <a:t>) and upper(</a:t>
                </a:r>
                <a14:m>
                  <m:oMath xmlns:m="http://schemas.openxmlformats.org/officeDocument/2006/math">
                    <m:sSup>
                      <m:sSupPr>
                        <m:ctrlPr>
                          <a:rPr lang="en-US" sz="2500" i="1" smtClean="0">
                            <a:latin typeface="Cambria Math" panose="02040503050406030204" pitchFamily="18" charset="0"/>
                            <a:ea typeface="Calibri" panose="020F0502020204030204" pitchFamily="34" charset="0"/>
                            <a:cs typeface="Calibri" panose="020F0502020204030204" pitchFamily="34" charset="0"/>
                          </a:rPr>
                        </m:ctrlPr>
                      </m:sSupPr>
                      <m:e>
                        <m:r>
                          <a:rPr lang="en-US" sz="2500" i="1">
                            <a:latin typeface="Cambria Math" panose="02040503050406030204" pitchFamily="18" charset="0"/>
                            <a:ea typeface="Calibri" panose="020F0502020204030204" pitchFamily="34" charset="0"/>
                            <a:cs typeface="Calibri" panose="020F0502020204030204" pitchFamily="34" charset="0"/>
                          </a:rPr>
                          <m:t>𝑥</m:t>
                        </m:r>
                      </m:e>
                      <m:sup>
                        <m:r>
                          <a:rPr lang="en-US" sz="2500" b="0" i="1" smtClean="0">
                            <a:latin typeface="Cambria Math" panose="02040503050406030204" pitchFamily="18" charset="0"/>
                            <a:ea typeface="Calibri" panose="020F0502020204030204" pitchFamily="34" charset="0"/>
                            <a:cs typeface="Calibri" panose="020F0502020204030204" pitchFamily="34" charset="0"/>
                          </a:rPr>
                          <m:t>𝑈</m:t>
                        </m:r>
                      </m:sup>
                    </m:sSup>
                  </m:oMath>
                </a14:m>
                <a:r>
                  <a:rPr lang="en-US" sz="2500" dirty="0">
                    <a:latin typeface="Calibri" panose="020F0502020204030204" pitchFamily="34" charset="0"/>
                    <a:ea typeface="Calibri" panose="020F0502020204030204" pitchFamily="34" charset="0"/>
                    <a:cs typeface="Calibri" panose="020F0502020204030204" pitchFamily="34" charset="0"/>
                  </a:rPr>
                  <a:t>) bounds. </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The GA script distributes these design variable sets into populations (Pop 1, Pop 2, ..., </a:t>
                </a:r>
                <a:r>
                  <a:rPr lang="en-US" sz="2500" dirty="0" err="1">
                    <a:latin typeface="Calibri" panose="020F0502020204030204" pitchFamily="34" charset="0"/>
                    <a:ea typeface="Calibri" panose="020F0502020204030204" pitchFamily="34" charset="0"/>
                    <a:cs typeface="Calibri" panose="020F0502020204030204" pitchFamily="34" charset="0"/>
                  </a:rPr>
                  <a:t>PopN</a:t>
                </a:r>
                <a:r>
                  <a:rPr lang="en-US" sz="2500" dirty="0">
                    <a:latin typeface="Calibri" panose="020F0502020204030204" pitchFamily="34" charset="0"/>
                    <a:ea typeface="Calibri" panose="020F0502020204030204" pitchFamily="34" charset="0"/>
                    <a:cs typeface="Calibri" panose="020F0502020204030204" pitchFamily="34" charset="0"/>
                  </a:rPr>
                  <a:t>), where each population corresponds to a complete FOWT simulation in Simulink. </a:t>
                </a:r>
              </a:p>
              <a:p>
                <a:pPr marL="285750" indent="-285750">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The output of each simulation is collected and subsequently used to evaluate the objective function, helping to determine the fitness of each design configuration.</a:t>
                </a:r>
              </a:p>
            </p:txBody>
          </p:sp>
        </mc:Choice>
        <mc:Fallback xmlns="">
          <p:sp>
            <p:nvSpPr>
              <p:cNvPr id="32" name="TextBox 31">
                <a:extLst>
                  <a:ext uri="{FF2B5EF4-FFF2-40B4-BE49-F238E27FC236}">
                    <a16:creationId xmlns:a16="http://schemas.microsoft.com/office/drawing/2014/main" id="{BE8354EF-381C-1295-0F14-8D07EDD35A94}"/>
                  </a:ext>
                </a:extLst>
              </p:cNvPr>
              <p:cNvSpPr txBox="1">
                <a:spLocks noRot="1" noChangeAspect="1" noMove="1" noResize="1" noEditPoints="1" noAdjustHandles="1" noChangeArrowheads="1" noChangeShapeType="1" noTextEdit="1"/>
              </p:cNvSpPr>
              <p:nvPr/>
            </p:nvSpPr>
            <p:spPr>
              <a:xfrm>
                <a:off x="313081" y="30402352"/>
                <a:ext cx="12897593" cy="2433551"/>
              </a:xfrm>
              <a:prstGeom prst="rect">
                <a:avLst/>
              </a:prstGeom>
              <a:blipFill>
                <a:blip r:embed="rId8"/>
                <a:stretch>
                  <a:fillRect l="-662" t="-1754" b="-3759"/>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5679A138-8F41-8299-424E-361E874D4FD0}"/>
              </a:ext>
            </a:extLst>
          </p:cNvPr>
          <p:cNvSpPr txBox="1"/>
          <p:nvPr/>
        </p:nvSpPr>
        <p:spPr>
          <a:xfrm>
            <a:off x="13560966" y="4041949"/>
            <a:ext cx="15418294" cy="720949"/>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Objective Function and Design Variables</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5CA9F22-B064-7E74-1218-7CCD7FF22180}"/>
                  </a:ext>
                </a:extLst>
              </p:cNvPr>
              <p:cNvSpPr txBox="1"/>
              <p:nvPr/>
            </p:nvSpPr>
            <p:spPr>
              <a:xfrm>
                <a:off x="13560966" y="4762898"/>
                <a:ext cx="15026066" cy="1685718"/>
              </a:xfrm>
              <a:prstGeom prst="rect">
                <a:avLst/>
              </a:prstGeom>
              <a:noFill/>
            </p:spPr>
            <p:txBody>
              <a:bodyPr wrap="square" rtlCol="0">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An optimization problem statement as follows [4]: Find </a:t>
                </a:r>
                <a14:m>
                  <m:oMath xmlns:m="http://schemas.openxmlformats.org/officeDocument/2006/math">
                    <m:r>
                      <a:rPr lang="en-US" sz="2500" b="0" i="1" smtClean="0">
                        <a:latin typeface="Cambria Math" panose="02040503050406030204" pitchFamily="18" charset="0"/>
                        <a:ea typeface="Calibri" panose="020F0502020204030204" pitchFamily="34" charset="0"/>
                        <a:cs typeface="Calibri" panose="020F0502020204030204" pitchFamily="34" charset="0"/>
                      </a:rPr>
                      <m:t>𝑥</m:t>
                    </m:r>
                    <m:r>
                      <a:rPr lang="en-US" sz="2500" b="0" i="1" smtClean="0">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n-US" sz="2500" b="0" i="1" smtClean="0">
                            <a:latin typeface="Cambria Math" panose="02040503050406030204" pitchFamily="18" charset="0"/>
                            <a:ea typeface="Calibri" panose="020F0502020204030204" pitchFamily="34" charset="0"/>
                            <a:cs typeface="Calibri" panose="020F0502020204030204" pitchFamily="34" charset="0"/>
                          </a:rPr>
                        </m:ctrlPr>
                      </m:dPr>
                      <m:e>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b>
                            <m:r>
                              <a:rPr lang="en-US" sz="2500" b="0" i="1" smtClean="0">
                                <a:latin typeface="Cambria Math" panose="02040503050406030204" pitchFamily="18" charset="0"/>
                                <a:ea typeface="Calibri" panose="020F0502020204030204" pitchFamily="34" charset="0"/>
                                <a:cs typeface="Calibri" panose="020F0502020204030204" pitchFamily="34" charset="0"/>
                              </a:rPr>
                              <m:t>1</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b>
                            <m:r>
                              <a:rPr lang="en-US" sz="2500" b="0" i="1" smtClean="0">
                                <a:latin typeface="Cambria Math" panose="02040503050406030204" pitchFamily="18" charset="0"/>
                                <a:ea typeface="Calibri" panose="020F0502020204030204" pitchFamily="34" charset="0"/>
                                <a:cs typeface="Calibri" panose="020F0502020204030204" pitchFamily="34" charset="0"/>
                              </a:rPr>
                              <m:t>2</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b>
                            <m:r>
                              <a:rPr lang="en-US" sz="2500" b="0" i="1" smtClean="0">
                                <a:latin typeface="Cambria Math" panose="02040503050406030204" pitchFamily="18" charset="0"/>
                                <a:ea typeface="Calibri" panose="020F0502020204030204" pitchFamily="34" charset="0"/>
                                <a:cs typeface="Calibri" panose="020F0502020204030204" pitchFamily="34" charset="0"/>
                              </a:rPr>
                              <m:t>3</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𝑘</m:t>
                            </m:r>
                          </m:sub>
                        </m:sSub>
                      </m:e>
                    </m:d>
                  </m:oMath>
                </a14:m>
                <a:r>
                  <a:rPr lang="en-US" sz="2500" dirty="0">
                    <a:latin typeface="Calibri" panose="020F0502020204030204" pitchFamily="34" charset="0"/>
                    <a:ea typeface="Calibri" panose="020F0502020204030204" pitchFamily="34" charset="0"/>
                    <a:cs typeface="Calibri" panose="020F0502020204030204" pitchFamily="34" charset="0"/>
                  </a:rPr>
                  <a:t> that minimizes,   </a:t>
                </a:r>
                <a14:m>
                  <m:oMath xmlns:m="http://schemas.openxmlformats.org/officeDocument/2006/math">
                    <m:func>
                      <m:func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US" sz="2500" b="0" i="0" smtClean="0">
                            <a:latin typeface="Cambria Math" panose="02040503050406030204" pitchFamily="18" charset="0"/>
                            <a:ea typeface="Calibri" panose="020F0502020204030204" pitchFamily="34" charset="0"/>
                            <a:cs typeface="Calibri" panose="020F0502020204030204" pitchFamily="34" charset="0"/>
                          </a:rPr>
                          <m:t>min</m:t>
                        </m:r>
                      </m:fName>
                      <m:e>
                        <m:r>
                          <a:rPr lang="en-US" sz="2500" b="0" i="1" smtClean="0">
                            <a:latin typeface="Cambria Math" panose="02040503050406030204" pitchFamily="18" charset="0"/>
                            <a:ea typeface="Calibri" panose="020F0502020204030204" pitchFamily="34" charset="0"/>
                            <a:cs typeface="Calibri" panose="020F0502020204030204" pitchFamily="34" charset="0"/>
                          </a:rPr>
                          <m:t>𝐽</m:t>
                        </m:r>
                        <m:r>
                          <a:rPr lang="en-US" sz="2500" b="0" i="1" smtClean="0">
                            <a:latin typeface="Cambria Math" panose="02040503050406030204" pitchFamily="18" charset="0"/>
                            <a:ea typeface="Calibri" panose="020F0502020204030204" pitchFamily="34" charset="0"/>
                            <a:cs typeface="Calibri" panose="020F0502020204030204" pitchFamily="34" charset="0"/>
                          </a:rPr>
                          <m:t>(</m:t>
                        </m:r>
                        <m:r>
                          <a:rPr lang="en-US" sz="2500" b="1" i="0" smtClean="0">
                            <a:latin typeface="Cambria Math" panose="02040503050406030204" pitchFamily="18" charset="0"/>
                            <a:ea typeface="Calibri" panose="020F0502020204030204" pitchFamily="34" charset="0"/>
                            <a:cs typeface="Calibri" panose="020F0502020204030204" pitchFamily="34" charset="0"/>
                          </a:rPr>
                          <m:t>𝐱</m:t>
                        </m:r>
                        <m:r>
                          <a:rPr lang="en-US" sz="2500" b="0" i="1" smtClean="0">
                            <a:latin typeface="Cambria Math" panose="02040503050406030204" pitchFamily="18" charset="0"/>
                            <a:ea typeface="Calibri" panose="020F0502020204030204" pitchFamily="34" charset="0"/>
                            <a:cs typeface="Calibri" panose="020F0502020204030204" pitchFamily="34" charset="0"/>
                          </a:rPr>
                          <m:t>)</m:t>
                        </m:r>
                      </m:e>
                    </m:func>
                  </m:oMath>
                </a14:m>
                <a:endParaRPr lang="en-US" sz="2500" dirty="0">
                  <a:latin typeface="Calibri" panose="020F0502020204030204" pitchFamily="34" charset="0"/>
                  <a:ea typeface="Calibri" panose="020F0502020204030204" pitchFamily="34" charset="0"/>
                  <a:cs typeface="Calibri" panose="020F0502020204030204" pitchFamily="34" charset="0"/>
                </a:endParaRPr>
              </a:p>
              <a:p>
                <a:r>
                  <a:rPr lang="en-US" sz="2500" dirty="0">
                    <a:latin typeface="Calibri" panose="020F0502020204030204" pitchFamily="34" charset="0"/>
                    <a:ea typeface="Calibri" panose="020F0502020204030204" pitchFamily="34" charset="0"/>
                    <a:cs typeface="Calibri" panose="020F0502020204030204" pitchFamily="34" charset="0"/>
                  </a:rPr>
                  <a:t>Subject to the variable bounds: </a:t>
                </a:r>
                <a14:m>
                  <m:oMath xmlns:m="http://schemas.openxmlformats.org/officeDocument/2006/math">
                    <m:sSubSup>
                      <m:sSubSupPr>
                        <m:ctrlPr>
                          <a:rPr lang="en-US" sz="250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𝑖</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𝐿</m:t>
                        </m:r>
                      </m:sup>
                    </m:sSubSup>
                    <m:r>
                      <a:rPr lang="en-US" sz="2500"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sz="25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500" b="0" i="1" smtClean="0">
                            <a:latin typeface="Cambria Math" panose="02040503050406030204" pitchFamily="18" charset="0"/>
                            <a:ea typeface="Cambria Math" panose="02040503050406030204" pitchFamily="18" charset="0"/>
                            <a:cs typeface="Calibri" panose="020F0502020204030204" pitchFamily="34" charset="0"/>
                          </a:rPr>
                          <m:t>𝑥</m:t>
                        </m:r>
                      </m:e>
                      <m:sub>
                        <m:r>
                          <a:rPr lang="en-US" sz="2500" b="0" i="1" smtClean="0">
                            <a:latin typeface="Cambria Math" panose="02040503050406030204" pitchFamily="18" charset="0"/>
                            <a:ea typeface="Cambria Math" panose="02040503050406030204" pitchFamily="18" charset="0"/>
                            <a:cs typeface="Calibri" panose="020F0502020204030204" pitchFamily="34" charset="0"/>
                          </a:rPr>
                          <m:t>𝑖</m:t>
                        </m:r>
                      </m:sub>
                    </m:sSub>
                    <m:r>
                      <a:rPr lang="en-US" sz="2500" b="0" i="1" smtClean="0">
                        <a:latin typeface="Cambria Math" panose="02040503050406030204" pitchFamily="18" charset="0"/>
                        <a:ea typeface="Cambria Math" panose="02040503050406030204" pitchFamily="18" charset="0"/>
                        <a:cs typeface="Calibri" panose="020F0502020204030204" pitchFamily="34" charset="0"/>
                      </a:rPr>
                      <m:t>≤</m:t>
                    </m:r>
                    <m:sSubSup>
                      <m:sSubSupPr>
                        <m:ctrlPr>
                          <a:rPr lang="en-US" sz="2500" i="1">
                            <a:latin typeface="Cambria Math" panose="02040503050406030204" pitchFamily="18" charset="0"/>
                            <a:ea typeface="Calibri" panose="020F0502020204030204" pitchFamily="34" charset="0"/>
                            <a:cs typeface="Calibri" panose="020F0502020204030204" pitchFamily="34" charset="0"/>
                          </a:rPr>
                        </m:ctrlPr>
                      </m:sSubSupPr>
                      <m:e>
                        <m:r>
                          <a:rPr lang="en-US" sz="2500" i="1">
                            <a:latin typeface="Cambria Math" panose="02040503050406030204" pitchFamily="18" charset="0"/>
                            <a:ea typeface="Calibri" panose="020F0502020204030204" pitchFamily="34" charset="0"/>
                            <a:cs typeface="Calibri" panose="020F0502020204030204" pitchFamily="34" charset="0"/>
                          </a:rPr>
                          <m:t>𝑥</m:t>
                        </m:r>
                      </m:e>
                      <m:sub>
                        <m:r>
                          <a:rPr lang="en-US" sz="2500" i="1">
                            <a:latin typeface="Cambria Math" panose="02040503050406030204" pitchFamily="18" charset="0"/>
                            <a:ea typeface="Calibri" panose="020F0502020204030204" pitchFamily="34" charset="0"/>
                            <a:cs typeface="Calibri" panose="020F0502020204030204" pitchFamily="34" charset="0"/>
                          </a:rPr>
                          <m:t>𝑖</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𝑈</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      </m:t>
                    </m:r>
                    <m:r>
                      <a:rPr lang="en-US" sz="2500" b="0" i="1" smtClean="0">
                        <a:latin typeface="Cambria Math" panose="02040503050406030204" pitchFamily="18" charset="0"/>
                        <a:ea typeface="Calibri" panose="020F0502020204030204" pitchFamily="34" charset="0"/>
                        <a:cs typeface="Calibri" panose="020F0502020204030204" pitchFamily="34" charset="0"/>
                      </a:rPr>
                      <m:t>𝑖</m:t>
                    </m:r>
                    <m:r>
                      <a:rPr lang="en-US" sz="2500" b="0" i="1" smtClean="0">
                        <a:latin typeface="Cambria Math" panose="02040503050406030204" pitchFamily="18" charset="0"/>
                        <a:ea typeface="Calibri" panose="020F0502020204030204" pitchFamily="34" charset="0"/>
                        <a:cs typeface="Calibri" panose="020F0502020204030204" pitchFamily="34" charset="0"/>
                      </a:rPr>
                      <m:t>=1,2,……,</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𝑛</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𝑥</m:t>
                        </m:r>
                      </m:sub>
                    </m:sSub>
                  </m:oMath>
                </a14:m>
                <a:r>
                  <a:rPr lang="en-US" sz="2500" dirty="0">
                    <a:latin typeface="Calibri" panose="020F0502020204030204" pitchFamily="34" charset="0"/>
                    <a:ea typeface="Calibri" panose="020F0502020204030204" pitchFamily="34" charset="0"/>
                    <a:cs typeface="Calibri" panose="020F0502020204030204" pitchFamily="34" charset="0"/>
                  </a:rPr>
                  <a:t>  </a:t>
                </a:r>
              </a:p>
              <a:p>
                <a:r>
                  <a:rPr lang="en-US" sz="2500" dirty="0">
                    <a:latin typeface="Calibri" panose="020F0502020204030204" pitchFamily="34" charset="0"/>
                    <a:ea typeface="Calibri" panose="020F0502020204030204" pitchFamily="34" charset="0"/>
                    <a:cs typeface="Calibri" panose="020F0502020204030204" pitchFamily="34" charset="0"/>
                  </a:rPr>
                  <a:t>And the constraints: </a:t>
                </a:r>
                <a14:m>
                  <m:oMath xmlns:m="http://schemas.openxmlformats.org/officeDocument/2006/math">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𝑔</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𝑗</m:t>
                        </m:r>
                      </m:sub>
                    </m:sSub>
                    <m:d>
                      <m:d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d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d>
                    <m:r>
                      <a:rPr lang="en-US" sz="2500" b="0" i="1" smtClean="0">
                        <a:latin typeface="Cambria Math" panose="02040503050406030204" pitchFamily="18" charset="0"/>
                        <a:ea typeface="Cambria Math" panose="02040503050406030204" pitchFamily="18" charset="0"/>
                        <a:cs typeface="Calibri" panose="020F0502020204030204" pitchFamily="34" charset="0"/>
                      </a:rPr>
                      <m:t>≤0    </m:t>
                    </m:r>
                    <m:r>
                      <a:rPr lang="en-US" sz="2500" b="0" i="1" smtClean="0">
                        <a:latin typeface="Cambria Math" panose="02040503050406030204" pitchFamily="18" charset="0"/>
                        <a:ea typeface="Cambria Math" panose="02040503050406030204" pitchFamily="18" charset="0"/>
                        <a:cs typeface="Calibri" panose="020F0502020204030204" pitchFamily="34" charset="0"/>
                      </a:rPr>
                      <m:t>𝑗</m:t>
                    </m:r>
                    <m:r>
                      <a:rPr lang="en-US" sz="2500" b="0" i="1" smtClean="0">
                        <a:latin typeface="Cambria Math" panose="02040503050406030204" pitchFamily="18" charset="0"/>
                        <a:ea typeface="Cambria Math" panose="02040503050406030204" pitchFamily="18" charset="0"/>
                        <a:cs typeface="Calibri" panose="020F0502020204030204" pitchFamily="34" charset="0"/>
                      </a:rPr>
                      <m:t>=1,2,……,</m:t>
                    </m:r>
                    <m:sSub>
                      <m:sSubPr>
                        <m:ctrlPr>
                          <a:rPr lang="en-US" sz="25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500" b="0" i="1" smtClean="0">
                            <a:latin typeface="Cambria Math" panose="02040503050406030204" pitchFamily="18" charset="0"/>
                            <a:ea typeface="Cambria Math" panose="02040503050406030204" pitchFamily="18" charset="0"/>
                            <a:cs typeface="Calibri" panose="020F0502020204030204" pitchFamily="34" charset="0"/>
                          </a:rPr>
                          <m:t>𝑛</m:t>
                        </m:r>
                      </m:e>
                      <m:sub>
                        <m:r>
                          <a:rPr lang="en-US" sz="2500" b="0" i="1" smtClean="0">
                            <a:latin typeface="Cambria Math" panose="02040503050406030204" pitchFamily="18" charset="0"/>
                            <a:ea typeface="Cambria Math" panose="02040503050406030204" pitchFamily="18" charset="0"/>
                            <a:cs typeface="Calibri" panose="020F0502020204030204" pitchFamily="34" charset="0"/>
                          </a:rPr>
                          <m:t>𝑔</m:t>
                        </m:r>
                      </m:sub>
                    </m:sSub>
                  </m:oMath>
                </a14:m>
                <a:r>
                  <a:rPr lang="en-US" sz="25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h</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𝑘</m:t>
                        </m:r>
                      </m:sub>
                    </m:sSub>
                    <m:d>
                      <m:d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d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d>
                    <m:r>
                      <a:rPr lang="en-US" sz="2500" i="1">
                        <a:latin typeface="Cambria Math" panose="02040503050406030204" pitchFamily="18" charset="0"/>
                        <a:ea typeface="Cambria Math" panose="02040503050406030204" pitchFamily="18" charset="0"/>
                        <a:cs typeface="Calibri" panose="020F0502020204030204" pitchFamily="34" charset="0"/>
                      </a:rPr>
                      <m:t>=</m:t>
                    </m:r>
                    <m:r>
                      <a:rPr lang="en-US" sz="2500" b="0" i="1" smtClean="0">
                        <a:latin typeface="Cambria Math" panose="02040503050406030204" pitchFamily="18" charset="0"/>
                        <a:ea typeface="Cambria Math" panose="02040503050406030204" pitchFamily="18" charset="0"/>
                        <a:cs typeface="Calibri" panose="020F0502020204030204" pitchFamily="34" charset="0"/>
                      </a:rPr>
                      <m:t>0      </m:t>
                    </m:r>
                    <m:r>
                      <a:rPr lang="en-US" sz="2500" b="0" i="1" smtClean="0">
                        <a:latin typeface="Cambria Math" panose="02040503050406030204" pitchFamily="18" charset="0"/>
                        <a:ea typeface="Cambria Math" panose="02040503050406030204" pitchFamily="18" charset="0"/>
                        <a:cs typeface="Calibri" panose="020F0502020204030204" pitchFamily="34" charset="0"/>
                      </a:rPr>
                      <m:t>𝑘</m:t>
                    </m:r>
                    <m:r>
                      <a:rPr lang="en-US" sz="2500" b="0" i="1" smtClean="0">
                        <a:latin typeface="Cambria Math" panose="02040503050406030204" pitchFamily="18" charset="0"/>
                        <a:ea typeface="Cambria Math" panose="02040503050406030204" pitchFamily="18" charset="0"/>
                        <a:cs typeface="Calibri" panose="020F0502020204030204" pitchFamily="34" charset="0"/>
                      </a:rPr>
                      <m:t>=1,2,……,</m:t>
                    </m:r>
                    <m:sSub>
                      <m:sSubPr>
                        <m:ctrlPr>
                          <a:rPr lang="en-US" sz="25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500" b="0" i="1" smtClean="0">
                            <a:latin typeface="Cambria Math" panose="02040503050406030204" pitchFamily="18" charset="0"/>
                            <a:ea typeface="Cambria Math" panose="02040503050406030204" pitchFamily="18" charset="0"/>
                            <a:cs typeface="Calibri" panose="020F0502020204030204" pitchFamily="34" charset="0"/>
                          </a:rPr>
                          <m:t>𝑛</m:t>
                        </m:r>
                      </m:e>
                      <m:sub>
                        <m:r>
                          <a:rPr lang="en-US" sz="2500" b="0" i="1" smtClean="0">
                            <a:latin typeface="Cambria Math" panose="02040503050406030204" pitchFamily="18" charset="0"/>
                            <a:ea typeface="Cambria Math" panose="02040503050406030204" pitchFamily="18" charset="0"/>
                            <a:cs typeface="Calibri" panose="020F0502020204030204" pitchFamily="34" charset="0"/>
                          </a:rPr>
                          <m:t>h</m:t>
                        </m:r>
                      </m:sub>
                    </m:sSub>
                  </m:oMath>
                </a14:m>
                <a:endParaRPr lang="en-US" sz="2500" dirty="0">
                  <a:latin typeface="Calibri" panose="020F0502020204030204" pitchFamily="34" charset="0"/>
                  <a:ea typeface="Calibri" panose="020F0502020204030204" pitchFamily="34" charset="0"/>
                  <a:cs typeface="Calibri" panose="020F0502020204030204" pitchFamily="34" charset="0"/>
                </a:endParaRPr>
              </a:p>
              <a:p>
                <a:endParaRPr lang="en-US" sz="25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TextBox 33">
                <a:extLst>
                  <a:ext uri="{FF2B5EF4-FFF2-40B4-BE49-F238E27FC236}">
                    <a16:creationId xmlns:a16="http://schemas.microsoft.com/office/drawing/2014/main" id="{F5CA9F22-B064-7E74-1218-7CCD7FF22180}"/>
                  </a:ext>
                </a:extLst>
              </p:cNvPr>
              <p:cNvSpPr txBox="1">
                <a:spLocks noRot="1" noChangeAspect="1" noMove="1" noResize="1" noEditPoints="1" noAdjustHandles="1" noChangeArrowheads="1" noChangeShapeType="1" noTextEdit="1"/>
              </p:cNvSpPr>
              <p:nvPr/>
            </p:nvSpPr>
            <p:spPr>
              <a:xfrm>
                <a:off x="13560966" y="4762898"/>
                <a:ext cx="15026066" cy="1685718"/>
              </a:xfrm>
              <a:prstGeom prst="rect">
                <a:avLst/>
              </a:prstGeom>
              <a:blipFill>
                <a:blip r:embed="rId9"/>
                <a:stretch>
                  <a:fillRect l="-690" t="-25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5" name="Table 34">
                <a:extLst>
                  <a:ext uri="{FF2B5EF4-FFF2-40B4-BE49-F238E27FC236}">
                    <a16:creationId xmlns:a16="http://schemas.microsoft.com/office/drawing/2014/main" id="{CB1669BA-71BE-8003-20AD-1F71CE7222C5}"/>
                  </a:ext>
                </a:extLst>
              </p:cNvPr>
              <p:cNvGraphicFramePr>
                <a:graphicFrameLocks noGrp="1"/>
              </p:cNvGraphicFramePr>
              <p:nvPr>
                <p:extLst>
                  <p:ext uri="{D42A27DB-BD31-4B8C-83A1-F6EECF244321}">
                    <p14:modId xmlns:p14="http://schemas.microsoft.com/office/powerpoint/2010/main" val="3580401723"/>
                  </p:ext>
                </p:extLst>
              </p:nvPr>
            </p:nvGraphicFramePr>
            <p:xfrm>
              <a:off x="13609092" y="6304238"/>
              <a:ext cx="15313792" cy="2552365"/>
            </p:xfrm>
            <a:graphic>
              <a:graphicData uri="http://schemas.openxmlformats.org/drawingml/2006/table">
                <a:tbl>
                  <a:tblPr firstRow="1" bandRow="1">
                    <a:tableStyleId>{5940675A-B579-460E-94D1-54222C63F5DA}</a:tableStyleId>
                  </a:tblPr>
                  <a:tblGrid>
                    <a:gridCol w="7656896">
                      <a:extLst>
                        <a:ext uri="{9D8B030D-6E8A-4147-A177-3AD203B41FA5}">
                          <a16:colId xmlns:a16="http://schemas.microsoft.com/office/drawing/2014/main" val="3696913570"/>
                        </a:ext>
                      </a:extLst>
                    </a:gridCol>
                    <a:gridCol w="7656896">
                      <a:extLst>
                        <a:ext uri="{9D8B030D-6E8A-4147-A177-3AD203B41FA5}">
                          <a16:colId xmlns:a16="http://schemas.microsoft.com/office/drawing/2014/main" val="1024905956"/>
                        </a:ext>
                      </a:extLst>
                    </a:gridCol>
                  </a:tblGrid>
                  <a:tr h="529699">
                    <a:tc>
                      <a:txBody>
                        <a:bodyPr/>
                        <a:lstStyle/>
                        <a:p>
                          <a:pPr algn="ctr"/>
                          <a:r>
                            <a:rPr lang="en-US" sz="2500" b="1" dirty="0">
                              <a:latin typeface="Calibri" panose="020F0502020204030204" pitchFamily="34" charset="0"/>
                              <a:ea typeface="Calibri" panose="020F0502020204030204" pitchFamily="34" charset="0"/>
                              <a:cs typeface="Calibri" panose="020F0502020204030204" pitchFamily="34" charset="0"/>
                            </a:rPr>
                            <a:t>Free decay case</a:t>
                          </a:r>
                        </a:p>
                      </a:txBody>
                      <a:tcPr/>
                    </a:tc>
                    <a:tc>
                      <a:txBody>
                        <a:bodyPr/>
                        <a:lstStyle/>
                        <a:p>
                          <a:pPr algn="ctr"/>
                          <a:r>
                            <a:rPr lang="en-US" sz="2500" b="1" dirty="0">
                              <a:latin typeface="Calibri" panose="020F0502020204030204" pitchFamily="34" charset="0"/>
                              <a:ea typeface="Calibri" panose="020F0502020204030204" pitchFamily="34" charset="0"/>
                              <a:cs typeface="Calibri" panose="020F0502020204030204" pitchFamily="34" charset="0"/>
                            </a:rPr>
                            <a:t>Irregular Wave Case</a:t>
                          </a:r>
                        </a:p>
                      </a:txBody>
                      <a:tcPr/>
                    </a:tc>
                    <a:extLst>
                      <a:ext uri="{0D108BD9-81ED-4DB2-BD59-A6C34878D82A}">
                        <a16:rowId xmlns:a16="http://schemas.microsoft.com/office/drawing/2014/main" val="3130793282"/>
                      </a:ext>
                    </a:extLst>
                  </a:tr>
                  <a:tr h="1544723">
                    <a:tc>
                      <a:txBody>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𝐽</m:t>
                                    </m:r>
                                  </m:e>
                                  <m:sub>
                                    <m:r>
                                      <a:rPr lang="en-US" sz="2500" b="0" i="1" smtClean="0">
                                        <a:latin typeface="Cambria Math" panose="02040503050406030204" pitchFamily="18" charset="0"/>
                                        <a:ea typeface="Calibri" panose="020F0502020204030204" pitchFamily="34" charset="0"/>
                                        <a:cs typeface="Calibri" panose="020F0502020204030204" pitchFamily="34" charset="0"/>
                                      </a:rPr>
                                      <m:t>1</m:t>
                                    </m:r>
                                  </m:sub>
                                </m:sSub>
                                <m:d>
                                  <m:dPr>
                                    <m:ctrlPr>
                                      <a:rPr lang="en-US" sz="2500" b="1" i="1" smtClean="0">
                                        <a:latin typeface="Cambria Math" panose="02040503050406030204" pitchFamily="18" charset="0"/>
                                        <a:ea typeface="Calibri" panose="020F0502020204030204" pitchFamily="34" charset="0"/>
                                        <a:cs typeface="Calibri" panose="020F0502020204030204" pitchFamily="34" charset="0"/>
                                      </a:rPr>
                                    </m:ctrlPr>
                                  </m:dPr>
                                  <m:e>
                                    <m:r>
                                      <a:rPr lang="en-US" sz="2500" b="1" i="0" smtClean="0">
                                        <a:latin typeface="Cambria Math" panose="02040503050406030204" pitchFamily="18" charset="0"/>
                                        <a:ea typeface="Calibri" panose="020F0502020204030204" pitchFamily="34" charset="0"/>
                                        <a:cs typeface="Calibri" panose="020F0502020204030204" pitchFamily="34" charset="0"/>
                                      </a:rPr>
                                      <m:t>𝐱</m:t>
                                    </m:r>
                                  </m:e>
                                </m:d>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𝑠</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𝑋</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1</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𝑅𝑀𝑆𝐸</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h</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𝑋</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3</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𝑅𝑀𝑆𝐸</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𝑝</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𝑋</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5</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𝑅𝑀𝑆𝐸</m:t>
                                    </m:r>
                                  </m:sub>
                                </m:sSub>
                              </m:oMath>
                            </m:oMathPara>
                          </a14:m>
                          <a:endParaRPr lang="en-US" sz="25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500" b="1" i="0" smtClean="0">
                                        <a:latin typeface="Cambria Math" panose="02040503050406030204" pitchFamily="18" charset="0"/>
                                        <a:ea typeface="Calibri" panose="020F0502020204030204" pitchFamily="34" charset="0"/>
                                        <a:cs typeface="Calibri" panose="020F0502020204030204" pitchFamily="34" charset="0"/>
                                      </a:rPr>
                                      <m:t>𝐱</m:t>
                                    </m:r>
                                  </m:e>
                                  <m:sup>
                                    <m:r>
                                      <a:rPr lang="en-US" sz="2500" b="0" i="1" smtClean="0">
                                        <a:latin typeface="Cambria Math" panose="02040503050406030204" pitchFamily="18" charset="0"/>
                                        <a:ea typeface="Calibri" panose="020F0502020204030204" pitchFamily="34" charset="0"/>
                                        <a:cs typeface="Calibri" panose="020F0502020204030204" pitchFamily="34" charset="0"/>
                                      </a:rPr>
                                      <m:t>𝑆𝑝𝑎𝑟</m:t>
                                    </m:r>
                                  </m:sup>
                                </m:s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𝑎𝑡</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𝑎𝑧</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𝑑𝑡</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𝑑𝑧</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500" b="0" i="1" smtClean="0">
                                        <a:latin typeface="Cambria Math" panose="02040503050406030204" pitchFamily="18" charset="0"/>
                                        <a:ea typeface="Calibri" panose="020F0502020204030204" pitchFamily="34" charset="0"/>
                                        <a:cs typeface="Calibri" panose="020F0502020204030204" pitchFamily="34" charset="0"/>
                                      </a:rPr>
                                      <m:t>11</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500" b="0" i="1" smtClean="0">
                                        <a:latin typeface="Cambria Math" panose="02040503050406030204" pitchFamily="18" charset="0"/>
                                        <a:ea typeface="Calibri" panose="020F0502020204030204" pitchFamily="34" charset="0"/>
                                        <a:cs typeface="Calibri" panose="020F0502020204030204" pitchFamily="34" charset="0"/>
                                      </a:rPr>
                                      <m:t>33</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500" b="0" i="1" smtClean="0">
                                        <a:latin typeface="Cambria Math" panose="02040503050406030204" pitchFamily="18" charset="0"/>
                                        <a:ea typeface="Calibri" panose="020F0502020204030204" pitchFamily="34" charset="0"/>
                                        <a:cs typeface="Calibri" panose="020F0502020204030204" pitchFamily="34" charset="0"/>
                                      </a:rPr>
                                      <m:t>55</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25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500" b="1" i="0" smtClean="0">
                                        <a:latin typeface="Cambria Math" panose="02040503050406030204" pitchFamily="18" charset="0"/>
                                        <a:ea typeface="Calibri" panose="020F0502020204030204" pitchFamily="34" charset="0"/>
                                        <a:cs typeface="Calibri" panose="020F0502020204030204" pitchFamily="34" charset="0"/>
                                      </a:rPr>
                                      <m:t>𝐱</m:t>
                                    </m:r>
                                  </m:e>
                                  <m:sup>
                                    <m:r>
                                      <a:rPr lang="en-US" sz="2500" b="0" i="1" smtClean="0">
                                        <a:latin typeface="Cambria Math" panose="02040503050406030204" pitchFamily="18" charset="0"/>
                                        <a:ea typeface="Calibri" panose="020F0502020204030204" pitchFamily="34" charset="0"/>
                                        <a:cs typeface="Calibri" panose="020F0502020204030204" pitchFamily="34" charset="0"/>
                                      </a:rPr>
                                      <m:t>𝑆𝑢𝑏</m:t>
                                    </m:r>
                                  </m:sup>
                                </m:s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𝑎𝑡</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𝑎𝑧</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𝑑𝑡</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𝑑𝑧</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𝑎𝑡</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𝑝</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𝑎𝑧</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𝑝</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𝑑𝑡</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𝑝</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𝑑𝑧</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𝑝</m:t>
                                    </m:r>
                                  </m:sup>
                                </m:sSubSup>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500" b="0" i="1" smtClean="0">
                                        <a:latin typeface="Cambria Math" panose="02040503050406030204" pitchFamily="18" charset="0"/>
                                        <a:ea typeface="Calibri" panose="020F0502020204030204" pitchFamily="34" charset="0"/>
                                        <a:cs typeface="Calibri" panose="020F0502020204030204" pitchFamily="34" charset="0"/>
                                      </a:rPr>
                                      <m:t>11</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500" b="0" i="1" smtClean="0">
                                        <a:latin typeface="Cambria Math" panose="02040503050406030204" pitchFamily="18" charset="0"/>
                                        <a:ea typeface="Calibri" panose="020F0502020204030204" pitchFamily="34" charset="0"/>
                                        <a:cs typeface="Calibri" panose="020F0502020204030204" pitchFamily="34" charset="0"/>
                                      </a:rPr>
                                      <m:t>33</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500" b="0" i="1" smtClean="0">
                                        <a:latin typeface="Cambria Math" panose="02040503050406030204" pitchFamily="18" charset="0"/>
                                        <a:ea typeface="Calibri" panose="020F0502020204030204" pitchFamily="34" charset="0"/>
                                        <a:cs typeface="Calibri" panose="020F0502020204030204" pitchFamily="34" charset="0"/>
                                      </a:rPr>
                                      <m:t>55</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25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𝐽</m:t>
                                  </m:r>
                                </m:e>
                                <m:sub>
                                  <m:r>
                                    <a:rPr lang="en-US" sz="2400" b="0" i="1" smtClean="0">
                                      <a:latin typeface="Cambria Math" panose="02040503050406030204" pitchFamily="18" charset="0"/>
                                    </a:rPr>
                                    <m:t>2</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𝑠</m:t>
                                  </m:r>
                                </m:sub>
                              </m:sSub>
                              <m:f>
                                <m:fPr>
                                  <m:ctrlPr>
                                    <a:rPr lang="en-US" sz="2400" b="0" i="1" smtClean="0">
                                      <a:latin typeface="Cambria Math" panose="02040503050406030204" pitchFamily="18" charset="0"/>
                                    </a:rPr>
                                  </m:ctrlPr>
                                </m:fPr>
                                <m:num>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1</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𝑆𝑖𝑚</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1</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𝐸𝑥𝑝</m:t>
                                      </m:r>
                                    </m:sup>
                                  </m:sSubSup>
                                </m:num>
                                <m:den>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1</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𝐸𝑥𝑝</m:t>
                                      </m:r>
                                    </m:sup>
                                  </m:sSubSup>
                                </m:den>
                              </m:f>
                            </m:oMath>
                          </a14:m>
                          <a:r>
                            <a:rPr lang="en-US" sz="2400" b="0" dirty="0"/>
                            <a:t>+</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h</m:t>
                                  </m:r>
                                </m:sub>
                              </m:sSub>
                              <m:f>
                                <m:fPr>
                                  <m:ctrlPr>
                                    <a:rPr lang="en-US" sz="2400" b="0" i="1" smtClean="0">
                                      <a:latin typeface="Cambria Math" panose="02040503050406030204" pitchFamily="18" charset="0"/>
                                    </a:rPr>
                                  </m:ctrlPr>
                                </m:fPr>
                                <m:num>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3</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𝑆𝑖𝑚</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3</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𝐸𝑥𝑝</m:t>
                                      </m:r>
                                    </m:sup>
                                  </m:sSubSup>
                                </m:num>
                                <m:den>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3</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𝐸𝑥𝑝</m:t>
                                      </m:r>
                                    </m:sup>
                                  </m:sSubSup>
                                </m:den>
                              </m:f>
                            </m:oMath>
                          </a14:m>
                          <a:r>
                            <a:rPr lang="en-US" sz="2400" b="0" dirty="0"/>
                            <a:t>+</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𝑝</m:t>
                                  </m:r>
                                </m:sub>
                              </m:sSub>
                              <m:f>
                                <m:fPr>
                                  <m:ctrlPr>
                                    <a:rPr lang="en-US" sz="2400" b="0" i="1" smtClean="0">
                                      <a:latin typeface="Cambria Math" panose="02040503050406030204" pitchFamily="18" charset="0"/>
                                    </a:rPr>
                                  </m:ctrlPr>
                                </m:fPr>
                                <m:num>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5</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𝑆𝑖𝑚</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5</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𝐸𝑥𝑝</m:t>
                                      </m:r>
                                    </m:sup>
                                  </m:sSubSup>
                                </m:num>
                                <m:den>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𝑋</m:t>
                                      </m:r>
                                      <m:r>
                                        <a:rPr lang="en-US" sz="2400" b="0" i="1" smtClean="0">
                                          <a:latin typeface="Cambria Math" panose="02040503050406030204" pitchFamily="18" charset="0"/>
                                        </a:rPr>
                                        <m:t>5</m:t>
                                      </m:r>
                                    </m:e>
                                    <m:sub>
                                      <m:r>
                                        <a:rPr lang="en-US" sz="2400" b="0" i="1" smtClean="0">
                                          <a:latin typeface="Cambria Math" panose="02040503050406030204" pitchFamily="18" charset="0"/>
                                        </a:rPr>
                                        <m:t>𝑆𝑢𝑚</m:t>
                                      </m:r>
                                    </m:sub>
                                    <m:sup>
                                      <m:r>
                                        <a:rPr lang="en-US" sz="2400" b="0" i="1" smtClean="0">
                                          <a:latin typeface="Cambria Math" panose="02040503050406030204" pitchFamily="18" charset="0"/>
                                        </a:rPr>
                                        <m:t>𝐸𝑥𝑝</m:t>
                                      </m:r>
                                    </m:sup>
                                  </m:sSubSup>
                                </m:den>
                              </m:f>
                            </m:oMath>
                          </a14:m>
                          <a:endParaRPr lang="en-US" sz="2400" b="0" dirty="0"/>
                        </a:p>
                        <a:p>
                          <a:pPr>
                            <a:lnSpc>
                              <a:spcPct val="150000"/>
                            </a:lnSpc>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400" b="1" i="0" smtClean="0">
                                        <a:latin typeface="Cambria Math" panose="02040503050406030204" pitchFamily="18" charset="0"/>
                                        <a:ea typeface="Calibri" panose="020F0502020204030204" pitchFamily="34" charset="0"/>
                                        <a:cs typeface="Calibri" panose="020F0502020204030204" pitchFamily="34" charset="0"/>
                                      </a:rPr>
                                      <m:t>𝐱</m:t>
                                    </m:r>
                                  </m:e>
                                  <m:sup>
                                    <m:r>
                                      <a:rPr lang="en-US" sz="2400" b="0" i="1" smtClean="0">
                                        <a:latin typeface="Cambria Math" panose="02040503050406030204" pitchFamily="18" charset="0"/>
                                        <a:ea typeface="Calibri" panose="020F0502020204030204" pitchFamily="34" charset="0"/>
                                        <a:cs typeface="Calibri" panose="020F0502020204030204" pitchFamily="34" charset="0"/>
                                      </a:rPr>
                                      <m:t>𝑆𝑝𝑎𝑟</m:t>
                                    </m:r>
                                  </m:sup>
                                </m:s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4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400" b="0" i="1" smtClean="0">
                                        <a:latin typeface="Cambria Math" panose="02040503050406030204" pitchFamily="18" charset="0"/>
                                        <a:ea typeface="Calibri" panose="020F0502020204030204" pitchFamily="34" charset="0"/>
                                        <a:cs typeface="Calibri" panose="020F0502020204030204" pitchFamily="34" charset="0"/>
                                      </a:rPr>
                                      <m:t>𝑑𝑡</m:t>
                                    </m:r>
                                  </m:sub>
                                  <m:sup>
                                    <m:r>
                                      <a:rPr lang="en-US" sz="24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4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400" b="0" i="1" smtClean="0">
                                        <a:latin typeface="Cambria Math" panose="02040503050406030204" pitchFamily="18" charset="0"/>
                                        <a:ea typeface="Calibri" panose="020F0502020204030204" pitchFamily="34" charset="0"/>
                                        <a:cs typeface="Calibri" panose="020F0502020204030204" pitchFamily="34" charset="0"/>
                                      </a:rPr>
                                      <m:t>𝑑𝑧</m:t>
                                    </m:r>
                                  </m:sub>
                                  <m:sup>
                                    <m:r>
                                      <a:rPr lang="en-US" sz="24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4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400" b="0" i="1" smtClean="0">
                                        <a:latin typeface="Cambria Math" panose="02040503050406030204" pitchFamily="18" charset="0"/>
                                        <a:ea typeface="Calibri" panose="020F0502020204030204" pitchFamily="34" charset="0"/>
                                        <a:cs typeface="Calibri" panose="020F0502020204030204" pitchFamily="34" charset="0"/>
                                      </a:rPr>
                                      <m:t>11</m:t>
                                    </m:r>
                                  </m:sub>
                                </m:sSub>
                                <m:r>
                                  <a:rPr lang="en-US" sz="24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4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400" b="0" i="1" smtClean="0">
                                        <a:latin typeface="Cambria Math" panose="02040503050406030204" pitchFamily="18" charset="0"/>
                                        <a:ea typeface="Calibri" panose="020F0502020204030204" pitchFamily="34" charset="0"/>
                                        <a:cs typeface="Calibri" panose="020F0502020204030204" pitchFamily="34" charset="0"/>
                                      </a:rPr>
                                      <m:t>33</m:t>
                                    </m:r>
                                  </m:sub>
                                </m:sSub>
                                <m:r>
                                  <a:rPr lang="en-US" sz="24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4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400" b="0" i="1" smtClean="0">
                                        <a:latin typeface="Cambria Math" panose="02040503050406030204" pitchFamily="18" charset="0"/>
                                        <a:ea typeface="Calibri" panose="020F0502020204030204" pitchFamily="34" charset="0"/>
                                        <a:cs typeface="Calibri" panose="020F0502020204030204" pitchFamily="34" charset="0"/>
                                      </a:rPr>
                                      <m:t>55</m:t>
                                    </m:r>
                                  </m:sub>
                                </m:sSub>
                                <m:r>
                                  <a:rPr lang="en-US" sz="2400" b="0" i="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24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400" b="1" i="0" smtClean="0">
                                        <a:latin typeface="Cambria Math" panose="02040503050406030204" pitchFamily="18" charset="0"/>
                                        <a:ea typeface="Calibri" panose="020F0502020204030204" pitchFamily="34" charset="0"/>
                                        <a:cs typeface="Calibri" panose="020F0502020204030204" pitchFamily="34" charset="0"/>
                                      </a:rPr>
                                      <m:t>𝐱</m:t>
                                    </m:r>
                                  </m:e>
                                  <m:sup>
                                    <m:r>
                                      <a:rPr lang="en-US" sz="2400" b="0" i="1" smtClean="0">
                                        <a:latin typeface="Cambria Math" panose="02040503050406030204" pitchFamily="18" charset="0"/>
                                        <a:ea typeface="Calibri" panose="020F0502020204030204" pitchFamily="34" charset="0"/>
                                        <a:cs typeface="Calibri" panose="020F0502020204030204" pitchFamily="34" charset="0"/>
                                      </a:rPr>
                                      <m:t>𝑆𝑢𝑏</m:t>
                                    </m:r>
                                  </m:sup>
                                </m:s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4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400" b="0" i="1" smtClean="0">
                                        <a:latin typeface="Cambria Math" panose="02040503050406030204" pitchFamily="18" charset="0"/>
                                        <a:ea typeface="Calibri" panose="020F0502020204030204" pitchFamily="34" charset="0"/>
                                        <a:cs typeface="Calibri" panose="020F0502020204030204" pitchFamily="34" charset="0"/>
                                      </a:rPr>
                                      <m:t>𝑑𝑡</m:t>
                                    </m:r>
                                  </m:sub>
                                  <m:sup>
                                    <m:r>
                                      <a:rPr lang="en-US" sz="24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4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400" b="0" i="1" smtClean="0">
                                        <a:latin typeface="Cambria Math" panose="02040503050406030204" pitchFamily="18" charset="0"/>
                                        <a:ea typeface="Calibri" panose="020F0502020204030204" pitchFamily="34" charset="0"/>
                                        <a:cs typeface="Calibri" panose="020F0502020204030204" pitchFamily="34" charset="0"/>
                                      </a:rPr>
                                      <m:t>𝑑𝑧</m:t>
                                    </m:r>
                                  </m:sub>
                                  <m:sup>
                                    <m:r>
                                      <a:rPr lang="en-US" sz="2400" b="0" i="1" smtClean="0">
                                        <a:latin typeface="Cambria Math" panose="02040503050406030204" pitchFamily="18" charset="0"/>
                                        <a:ea typeface="Calibri" panose="020F0502020204030204" pitchFamily="34" charset="0"/>
                                        <a:cs typeface="Calibri" panose="020F0502020204030204" pitchFamily="34" charset="0"/>
                                      </a:rPr>
                                      <m:t>𝑐</m:t>
                                    </m:r>
                                  </m:sup>
                                </m:sSubSup>
                                <m:r>
                                  <a:rPr lang="en-US" sz="2400" b="0" i="1" smtClean="0">
                                    <a:latin typeface="Cambria Math" panose="02040503050406030204" pitchFamily="18" charset="0"/>
                                    <a:ea typeface="Calibri" panose="020F0502020204030204" pitchFamily="34" charset="0"/>
                                    <a:cs typeface="Calibri" panose="020F0502020204030204" pitchFamily="34" charset="0"/>
                                  </a:rPr>
                                  <m:t>, </m:t>
                                </m:r>
                                <m:sSubSup>
                                  <m:sSub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4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400" b="0" i="1" smtClean="0">
                                        <a:latin typeface="Cambria Math" panose="02040503050406030204" pitchFamily="18" charset="0"/>
                                        <a:ea typeface="Calibri" panose="020F0502020204030204" pitchFamily="34" charset="0"/>
                                        <a:cs typeface="Calibri" panose="020F0502020204030204" pitchFamily="34" charset="0"/>
                                      </a:rPr>
                                      <m:t>𝑑𝑡</m:t>
                                    </m:r>
                                  </m:sub>
                                  <m:sup>
                                    <m:r>
                                      <a:rPr lang="en-US" sz="2400" b="0" i="1" smtClean="0">
                                        <a:latin typeface="Cambria Math" panose="02040503050406030204" pitchFamily="18" charset="0"/>
                                        <a:ea typeface="Calibri" panose="020F0502020204030204" pitchFamily="34" charset="0"/>
                                        <a:cs typeface="Calibri" panose="020F0502020204030204" pitchFamily="34" charset="0"/>
                                      </a:rPr>
                                      <m:t>𝑝</m:t>
                                    </m:r>
                                  </m:sup>
                                </m:sSub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Sup>
                                  <m:sSubSup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4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400" b="0" i="1" smtClean="0">
                                        <a:latin typeface="Cambria Math" panose="02040503050406030204" pitchFamily="18" charset="0"/>
                                        <a:ea typeface="Calibri" panose="020F0502020204030204" pitchFamily="34" charset="0"/>
                                        <a:cs typeface="Calibri" panose="020F0502020204030204" pitchFamily="34" charset="0"/>
                                      </a:rPr>
                                      <m:t>𝑑𝑧</m:t>
                                    </m:r>
                                  </m:sub>
                                  <m:sup>
                                    <m:r>
                                      <a:rPr lang="en-US" sz="2400" b="0" i="1" smtClean="0">
                                        <a:latin typeface="Cambria Math" panose="02040503050406030204" pitchFamily="18" charset="0"/>
                                        <a:ea typeface="Calibri" panose="020F0502020204030204" pitchFamily="34" charset="0"/>
                                        <a:cs typeface="Calibri" panose="020F0502020204030204" pitchFamily="34" charset="0"/>
                                      </a:rPr>
                                      <m:t>𝑝</m:t>
                                    </m:r>
                                  </m:sup>
                                </m:sSubSup>
                                <m:r>
                                  <a:rPr lang="en-US" sz="24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4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400" b="0" i="1" smtClean="0">
                                        <a:latin typeface="Cambria Math" panose="02040503050406030204" pitchFamily="18" charset="0"/>
                                        <a:ea typeface="Calibri" panose="020F0502020204030204" pitchFamily="34" charset="0"/>
                                        <a:cs typeface="Calibri" panose="020F0502020204030204" pitchFamily="34" charset="0"/>
                                      </a:rPr>
                                      <m:t>11</m:t>
                                    </m:r>
                                  </m:sub>
                                </m:sSub>
                                <m:r>
                                  <a:rPr lang="en-US" sz="24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4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400" b="0" i="1" smtClean="0">
                                        <a:latin typeface="Cambria Math" panose="02040503050406030204" pitchFamily="18" charset="0"/>
                                        <a:ea typeface="Calibri" panose="020F0502020204030204" pitchFamily="34" charset="0"/>
                                        <a:cs typeface="Calibri" panose="020F0502020204030204" pitchFamily="34" charset="0"/>
                                      </a:rPr>
                                      <m:t>33</m:t>
                                    </m:r>
                                  </m:sub>
                                </m:sSub>
                                <m:r>
                                  <a:rPr lang="en-US" sz="24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4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400" b="0" i="1" smtClean="0">
                                        <a:latin typeface="Cambria Math" panose="02040503050406030204" pitchFamily="18" charset="0"/>
                                        <a:ea typeface="Calibri" panose="020F0502020204030204" pitchFamily="34" charset="0"/>
                                        <a:cs typeface="Calibri" panose="020F0502020204030204" pitchFamily="34" charset="0"/>
                                      </a:rPr>
                                      <m:t>𝐵</m:t>
                                    </m:r>
                                  </m:e>
                                  <m:sub>
                                    <m:r>
                                      <a:rPr lang="en-US" sz="2400" b="0" i="1" smtClean="0">
                                        <a:latin typeface="Cambria Math" panose="02040503050406030204" pitchFamily="18" charset="0"/>
                                        <a:ea typeface="Calibri" panose="020F0502020204030204" pitchFamily="34" charset="0"/>
                                        <a:cs typeface="Calibri" panose="020F0502020204030204" pitchFamily="34" charset="0"/>
                                      </a:rPr>
                                      <m:t>55</m:t>
                                    </m:r>
                                  </m:sub>
                                </m:sSub>
                                <m:r>
                                  <a:rPr lang="en-US" sz="2400" b="0" i="1"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97445527"/>
                      </a:ext>
                    </a:extLst>
                  </a:tr>
                </a:tbl>
              </a:graphicData>
            </a:graphic>
          </p:graphicFrame>
        </mc:Choice>
        <mc:Fallback xmlns="">
          <p:graphicFrame>
            <p:nvGraphicFramePr>
              <p:cNvPr id="35" name="Table 34">
                <a:extLst>
                  <a:ext uri="{FF2B5EF4-FFF2-40B4-BE49-F238E27FC236}">
                    <a16:creationId xmlns:a16="http://schemas.microsoft.com/office/drawing/2014/main" id="{CB1669BA-71BE-8003-20AD-1F71CE7222C5}"/>
                  </a:ext>
                </a:extLst>
              </p:cNvPr>
              <p:cNvGraphicFramePr>
                <a:graphicFrameLocks noGrp="1"/>
              </p:cNvGraphicFramePr>
              <p:nvPr>
                <p:extLst>
                  <p:ext uri="{D42A27DB-BD31-4B8C-83A1-F6EECF244321}">
                    <p14:modId xmlns:p14="http://schemas.microsoft.com/office/powerpoint/2010/main" val="3580401723"/>
                  </p:ext>
                </p:extLst>
              </p:nvPr>
            </p:nvGraphicFramePr>
            <p:xfrm>
              <a:off x="13609092" y="6304238"/>
              <a:ext cx="15313792" cy="2552365"/>
            </p:xfrm>
            <a:graphic>
              <a:graphicData uri="http://schemas.openxmlformats.org/drawingml/2006/table">
                <a:tbl>
                  <a:tblPr firstRow="1" bandRow="1">
                    <a:tableStyleId>{5940675A-B579-460E-94D1-54222C63F5DA}</a:tableStyleId>
                  </a:tblPr>
                  <a:tblGrid>
                    <a:gridCol w="7656896">
                      <a:extLst>
                        <a:ext uri="{9D8B030D-6E8A-4147-A177-3AD203B41FA5}">
                          <a16:colId xmlns:a16="http://schemas.microsoft.com/office/drawing/2014/main" val="3696913570"/>
                        </a:ext>
                      </a:extLst>
                    </a:gridCol>
                    <a:gridCol w="7656896">
                      <a:extLst>
                        <a:ext uri="{9D8B030D-6E8A-4147-A177-3AD203B41FA5}">
                          <a16:colId xmlns:a16="http://schemas.microsoft.com/office/drawing/2014/main" val="1024905956"/>
                        </a:ext>
                      </a:extLst>
                    </a:gridCol>
                  </a:tblGrid>
                  <a:tr h="529699">
                    <a:tc>
                      <a:txBody>
                        <a:bodyPr/>
                        <a:lstStyle/>
                        <a:p>
                          <a:pPr algn="ctr"/>
                          <a:r>
                            <a:rPr lang="en-US" sz="2500" b="1" dirty="0">
                              <a:latin typeface="Calibri" panose="020F0502020204030204" pitchFamily="34" charset="0"/>
                              <a:ea typeface="Calibri" panose="020F0502020204030204" pitchFamily="34" charset="0"/>
                              <a:cs typeface="Calibri" panose="020F0502020204030204" pitchFamily="34" charset="0"/>
                            </a:rPr>
                            <a:t>Free decay case</a:t>
                          </a:r>
                        </a:p>
                      </a:txBody>
                      <a:tcPr/>
                    </a:tc>
                    <a:tc>
                      <a:txBody>
                        <a:bodyPr/>
                        <a:lstStyle/>
                        <a:p>
                          <a:pPr algn="ctr"/>
                          <a:r>
                            <a:rPr lang="en-US" sz="2500" b="1" dirty="0">
                              <a:latin typeface="Calibri" panose="020F0502020204030204" pitchFamily="34" charset="0"/>
                              <a:ea typeface="Calibri" panose="020F0502020204030204" pitchFamily="34" charset="0"/>
                              <a:cs typeface="Calibri" panose="020F0502020204030204" pitchFamily="34" charset="0"/>
                            </a:rPr>
                            <a:t>Irregular Wave Case</a:t>
                          </a:r>
                        </a:p>
                      </a:txBody>
                      <a:tcPr/>
                    </a:tc>
                    <a:extLst>
                      <a:ext uri="{0D108BD9-81ED-4DB2-BD59-A6C34878D82A}">
                        <a16:rowId xmlns:a16="http://schemas.microsoft.com/office/drawing/2014/main" val="3130793282"/>
                      </a:ext>
                    </a:extLst>
                  </a:tr>
                  <a:tr h="2022666">
                    <a:tc>
                      <a:txBody>
                        <a:bodyPr/>
                        <a:lstStyle/>
                        <a:p>
                          <a:endParaRPr lang="en-US"/>
                        </a:p>
                      </a:txBody>
                      <a:tcPr>
                        <a:blipFill>
                          <a:blip r:embed="rId10"/>
                          <a:stretch>
                            <a:fillRect l="-80" t="-28313" r="-100080" b="-602"/>
                          </a:stretch>
                        </a:blipFill>
                      </a:tcPr>
                    </a:tc>
                    <a:tc>
                      <a:txBody>
                        <a:bodyPr/>
                        <a:lstStyle/>
                        <a:p>
                          <a:endParaRPr lang="en-US"/>
                        </a:p>
                      </a:txBody>
                      <a:tcPr>
                        <a:blipFill>
                          <a:blip r:embed="rId10"/>
                          <a:stretch>
                            <a:fillRect l="-100159" t="-28313" r="-159" b="-602"/>
                          </a:stretch>
                        </a:blipFill>
                      </a:tcPr>
                    </a:tc>
                    <a:extLst>
                      <a:ext uri="{0D108BD9-81ED-4DB2-BD59-A6C34878D82A}">
                        <a16:rowId xmlns:a16="http://schemas.microsoft.com/office/drawing/2014/main" val="2297445527"/>
                      </a:ext>
                    </a:extLst>
                  </a:tr>
                </a:tbl>
              </a:graphicData>
            </a:graphic>
          </p:graphicFrame>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3AFB84C-A02E-279F-3FD4-C98C784CCDB5}"/>
                  </a:ext>
                </a:extLst>
              </p:cNvPr>
              <p:cNvSpPr txBox="1"/>
              <p:nvPr/>
            </p:nvSpPr>
            <p:spPr>
              <a:xfrm>
                <a:off x="13609092" y="9087160"/>
                <a:ext cx="14977940" cy="1687129"/>
              </a:xfrm>
              <a:prstGeom prst="rect">
                <a:avLst/>
              </a:prstGeom>
              <a:noFill/>
            </p:spPr>
            <p:txBody>
              <a:bodyPr wrap="square" rtlCol="0">
                <a:spAutoFit/>
              </a:bodyPr>
              <a:lstStyle/>
              <a:p>
                <a:pPr algn="just"/>
                <a14:m>
                  <m:oMath xmlns:m="http://schemas.openxmlformats.org/officeDocument/2006/math">
                    <m:r>
                      <a:rPr lang="en-US" sz="2500" b="0" i="1" smtClean="0">
                        <a:latin typeface="Cambria Math" panose="02040503050406030204" pitchFamily="18" charset="0"/>
                        <a:ea typeface="Calibri" panose="020F0502020204030204" pitchFamily="34" charset="0"/>
                        <a:cs typeface="Calibri" panose="020F0502020204030204" pitchFamily="34" charset="0"/>
                      </a:rPr>
                      <m:t>𝑋</m:t>
                    </m:r>
                    <m:r>
                      <a:rPr lang="en-US" sz="2500" b="0" i="1" smtClean="0">
                        <a:latin typeface="Cambria Math" panose="02040503050406030204" pitchFamily="18" charset="0"/>
                        <a:ea typeface="Calibri" panose="020F0502020204030204" pitchFamily="34" charset="0"/>
                        <a:cs typeface="Calibri" panose="020F0502020204030204" pitchFamily="34" charset="0"/>
                      </a:rPr>
                      <m:t>1, </m:t>
                    </m:r>
                    <m:r>
                      <a:rPr lang="en-US" sz="2500" b="0" i="1" smtClean="0">
                        <a:latin typeface="Cambria Math" panose="02040503050406030204" pitchFamily="18" charset="0"/>
                        <a:ea typeface="Calibri" panose="020F0502020204030204" pitchFamily="34" charset="0"/>
                        <a:cs typeface="Calibri" panose="020F0502020204030204" pitchFamily="34" charset="0"/>
                      </a:rPr>
                      <m:t>𝑋</m:t>
                    </m:r>
                    <m:r>
                      <a:rPr lang="en-US" sz="2500" b="0" i="1" smtClean="0">
                        <a:latin typeface="Cambria Math" panose="02040503050406030204" pitchFamily="18" charset="0"/>
                        <a:ea typeface="Calibri" panose="020F0502020204030204" pitchFamily="34" charset="0"/>
                        <a:cs typeface="Calibri" panose="020F0502020204030204" pitchFamily="34" charset="0"/>
                      </a:rPr>
                      <m:t>3</m:t>
                    </m:r>
                  </m:oMath>
                </a14:m>
                <a:r>
                  <a:rPr lang="en-US" sz="25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2500" b="0" i="1" smtClean="0">
                        <a:latin typeface="Cambria Math" panose="02040503050406030204" pitchFamily="18" charset="0"/>
                        <a:ea typeface="Calibri" panose="020F0502020204030204" pitchFamily="34" charset="0"/>
                        <a:cs typeface="Calibri" panose="020F0502020204030204" pitchFamily="34" charset="0"/>
                      </a:rPr>
                      <m:t>𝑋</m:t>
                    </m:r>
                    <m:r>
                      <a:rPr lang="en-US" sz="2500" b="0" i="1" smtClean="0">
                        <a:latin typeface="Cambria Math" panose="02040503050406030204" pitchFamily="18" charset="0"/>
                        <a:ea typeface="Calibri" panose="020F0502020204030204" pitchFamily="34" charset="0"/>
                        <a:cs typeface="Calibri" panose="020F0502020204030204" pitchFamily="34" charset="0"/>
                      </a:rPr>
                      <m:t>5</m:t>
                    </m:r>
                  </m:oMath>
                </a14:m>
                <a:r>
                  <a:rPr lang="en-US" sz="2500" dirty="0">
                    <a:latin typeface="Calibri" panose="020F0502020204030204" pitchFamily="34" charset="0"/>
                    <a:ea typeface="Calibri" panose="020F0502020204030204" pitchFamily="34" charset="0"/>
                    <a:cs typeface="Calibri" panose="020F0502020204030204" pitchFamily="34" charset="0"/>
                  </a:rPr>
                  <a:t> are the floating platforms surge, heave, and pitch DOF responses, respectively. </a:t>
                </a:r>
                <a14:m>
                  <m:oMath xmlns:m="http://schemas.openxmlformats.org/officeDocument/2006/math">
                    <m:r>
                      <a:rPr lang="en-US" sz="2500" b="0" i="1" smtClean="0">
                        <a:latin typeface="Cambria Math" panose="02040503050406030204" pitchFamily="18" charset="0"/>
                        <a:ea typeface="Calibri" panose="020F0502020204030204" pitchFamily="34" charset="0"/>
                        <a:cs typeface="Calibri" panose="020F0502020204030204" pitchFamily="34" charset="0"/>
                      </a:rPr>
                      <m:t>𝑋</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1</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𝑅𝑀𝑆𝐸</m:t>
                        </m:r>
                      </m:sub>
                    </m:sSub>
                  </m:oMath>
                </a14:m>
                <a:r>
                  <a:rPr lang="en-US" sz="2500" dirty="0">
                    <a:latin typeface="Calibri" panose="020F0502020204030204" pitchFamily="34" charset="0"/>
                    <a:ea typeface="Calibri" panose="020F0502020204030204" pitchFamily="34" charset="0"/>
                    <a:cs typeface="Calibri" panose="020F0502020204030204" pitchFamily="34" charset="0"/>
                  </a:rPr>
                  <a:t> presents the root-mean-square error (RMSE) between simulated and target/experiment surge data in time domain. </a:t>
                </a:r>
                <a14:m>
                  <m:oMath xmlns:m="http://schemas.openxmlformats.org/officeDocument/2006/math">
                    <m:sSubSup>
                      <m:sSub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SupPr>
                      <m:e>
                        <m:r>
                          <a:rPr lang="en-US" sz="2500" b="0" i="1" smtClean="0">
                            <a:latin typeface="Cambria Math" panose="02040503050406030204" pitchFamily="18" charset="0"/>
                            <a:ea typeface="Calibri" panose="020F0502020204030204" pitchFamily="34" charset="0"/>
                            <a:cs typeface="Calibri" panose="020F0502020204030204" pitchFamily="34" charset="0"/>
                          </a:rPr>
                          <m:t>𝑋</m:t>
                        </m:r>
                        <m:r>
                          <a:rPr lang="en-US" sz="2500" b="0" i="1" smtClean="0">
                            <a:latin typeface="Cambria Math" panose="02040503050406030204" pitchFamily="18" charset="0"/>
                            <a:ea typeface="Calibri" panose="020F0502020204030204" pitchFamily="34" charset="0"/>
                            <a:cs typeface="Calibri" panose="020F0502020204030204" pitchFamily="34" charset="0"/>
                          </a:rPr>
                          <m:t>1</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𝑆𝑢𝑚</m:t>
                        </m:r>
                      </m:sub>
                      <m:sup>
                        <m:r>
                          <a:rPr lang="en-US" sz="2500" b="0" i="1" smtClean="0">
                            <a:latin typeface="Cambria Math" panose="02040503050406030204" pitchFamily="18" charset="0"/>
                            <a:ea typeface="Calibri" panose="020F0502020204030204" pitchFamily="34" charset="0"/>
                            <a:cs typeface="Calibri" panose="020F0502020204030204" pitchFamily="34" charset="0"/>
                          </a:rPr>
                          <m:t>𝑆𝑖𝑚</m:t>
                        </m:r>
                      </m:sup>
                    </m:sSubSup>
                  </m:oMath>
                </a14:m>
                <a:r>
                  <a:rPr lang="en-US" sz="2500" dirty="0">
                    <a:latin typeface="Calibri" panose="020F0502020204030204" pitchFamily="34" charset="0"/>
                    <a:ea typeface="Calibri" panose="020F0502020204030204" pitchFamily="34" charset="0"/>
                    <a:cs typeface="Calibri" panose="020F0502020204030204" pitchFamily="34" charset="0"/>
                  </a:rPr>
                  <a:t> is the power spectral density (PSD) over a specified frequency range (frequency domain) of simulated surge response. </a:t>
                </a:r>
                <a14:m>
                  <m:oMath xmlns:m="http://schemas.openxmlformats.org/officeDocument/2006/math">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𝑠</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h</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 </m:t>
                    </m:r>
                    <m:r>
                      <a:rPr lang="en-US" sz="2500" b="0" i="1" smtClean="0">
                        <a:latin typeface="Cambria Math" panose="02040503050406030204" pitchFamily="18" charset="0"/>
                        <a:ea typeface="Calibri" panose="020F0502020204030204" pitchFamily="34" charset="0"/>
                        <a:cs typeface="Calibri" panose="020F0502020204030204" pitchFamily="34" charset="0"/>
                      </a:rPr>
                      <m:t>𝑎𝑛𝑑</m:t>
                    </m:r>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𝑝</m:t>
                        </m:r>
                      </m:sub>
                    </m:sSub>
                  </m:oMath>
                </a14:m>
                <a:r>
                  <a:rPr lang="en-US" sz="2500" dirty="0">
                    <a:latin typeface="Calibri" panose="020F0502020204030204" pitchFamily="34" charset="0"/>
                    <a:ea typeface="Calibri" panose="020F0502020204030204" pitchFamily="34" charset="0"/>
                    <a:cs typeface="Calibri" panose="020F0502020204030204" pitchFamily="34" charset="0"/>
                  </a:rPr>
                  <a:t> are some weight parameter given to surge, heave, and pitch response, respectively. </a:t>
                </a:r>
              </a:p>
            </p:txBody>
          </p:sp>
        </mc:Choice>
        <mc:Fallback xmlns="">
          <p:sp>
            <p:nvSpPr>
              <p:cNvPr id="36" name="TextBox 35">
                <a:extLst>
                  <a:ext uri="{FF2B5EF4-FFF2-40B4-BE49-F238E27FC236}">
                    <a16:creationId xmlns:a16="http://schemas.microsoft.com/office/drawing/2014/main" id="{43AFB84C-A02E-279F-3FD4-C98C784CCDB5}"/>
                  </a:ext>
                </a:extLst>
              </p:cNvPr>
              <p:cNvSpPr txBox="1">
                <a:spLocks noRot="1" noChangeAspect="1" noMove="1" noResize="1" noEditPoints="1" noAdjustHandles="1" noChangeArrowheads="1" noChangeShapeType="1" noTextEdit="1"/>
              </p:cNvSpPr>
              <p:nvPr/>
            </p:nvSpPr>
            <p:spPr>
              <a:xfrm>
                <a:off x="13609092" y="9087160"/>
                <a:ext cx="14977940" cy="1687129"/>
              </a:xfrm>
              <a:prstGeom prst="rect">
                <a:avLst/>
              </a:prstGeom>
              <a:blipFill>
                <a:blip r:embed="rId11"/>
                <a:stretch>
                  <a:fillRect l="-651" t="-2899" r="-692" b="-6522"/>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7C12C4A5-A622-C1DC-5554-C0909FF4960B}"/>
              </a:ext>
            </a:extLst>
          </p:cNvPr>
          <p:cNvSpPr txBox="1"/>
          <p:nvPr/>
        </p:nvSpPr>
        <p:spPr>
          <a:xfrm>
            <a:off x="13560966" y="12563851"/>
            <a:ext cx="15418294" cy="720949"/>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A Demonstrative Example: Morison Equation-Fixed Cylinder</a:t>
            </a:r>
          </a:p>
        </p:txBody>
      </p:sp>
      <p:pic>
        <p:nvPicPr>
          <p:cNvPr id="39" name="Picture 38" descr="A diagram of a cylinder with lines and arrows&#10;&#10;AI-generated content may be incorrect.">
            <a:extLst>
              <a:ext uri="{FF2B5EF4-FFF2-40B4-BE49-F238E27FC236}">
                <a16:creationId xmlns:a16="http://schemas.microsoft.com/office/drawing/2014/main" id="{F8E20BC5-2A28-579A-D943-982711A236D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609092" y="15971896"/>
            <a:ext cx="6788013" cy="6427286"/>
          </a:xfrm>
          <a:prstGeom prst="rect">
            <a:avLst/>
          </a:prstGeom>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8E3D09A-1887-C57E-5BA2-9E4350D03DD3}"/>
                  </a:ext>
                </a:extLst>
              </p:cNvPr>
              <p:cNvSpPr txBox="1"/>
              <p:nvPr/>
            </p:nvSpPr>
            <p:spPr>
              <a:xfrm>
                <a:off x="13609092" y="13462321"/>
                <a:ext cx="15313792" cy="2510624"/>
              </a:xfrm>
              <a:prstGeom prst="rect">
                <a:avLst/>
              </a:prstGeom>
              <a:noFill/>
            </p:spPr>
            <p:txBody>
              <a:bodyPr wrap="square" rtlCol="0">
                <a:spAutoFit/>
              </a:bodyPr>
              <a:lstStyle/>
              <a:p>
                <a:pPr>
                  <a:lnSpc>
                    <a:spcPct val="150000"/>
                  </a:lnSpc>
                </a:pPr>
                <a:r>
                  <a:rPr lang="en-US" sz="2500" dirty="0">
                    <a:latin typeface="Calibri" panose="020F0502020204030204" pitchFamily="34" charset="0"/>
                    <a:ea typeface="Calibri" panose="020F0502020204030204" pitchFamily="34" charset="0"/>
                    <a:cs typeface="Calibri" panose="020F0502020204030204" pitchFamily="34" charset="0"/>
                  </a:rPr>
                  <a:t>Analytical results for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𝐹</m:t>
                        </m:r>
                      </m:e>
                      <m:sub>
                        <m:r>
                          <a:rPr lang="en-US" sz="2500" b="0" i="1" smtClean="0">
                            <a:latin typeface="Cambria Math" panose="02040503050406030204" pitchFamily="18" charset="0"/>
                          </a:rPr>
                          <m:t>𝑥</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𝐹</m:t>
                        </m:r>
                      </m:e>
                      <m:sub>
                        <m:r>
                          <a:rPr lang="en-US" sz="2500" b="0" i="1" smtClean="0">
                            <a:latin typeface="Cambria Math" panose="02040503050406030204" pitchFamily="18" charset="0"/>
                          </a:rPr>
                          <m:t>𝑧</m:t>
                        </m:r>
                      </m:sub>
                    </m:sSub>
                    <m:r>
                      <a:rPr lang="en-US" sz="2500" b="0" i="1" smtClean="0">
                        <a:latin typeface="Cambria Math" panose="02040503050406030204" pitchFamily="18" charset="0"/>
                      </a:rPr>
                      <m:t>, </m:t>
                    </m:r>
                    <m:r>
                      <a:rPr lang="en-US" sz="2500" b="0" i="1" smtClean="0">
                        <a:latin typeface="Cambria Math" panose="02040503050406030204" pitchFamily="18" charset="0"/>
                      </a:rPr>
                      <m:t>𝑎𝑛𝑑</m:t>
                    </m:r>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𝑀</m:t>
                        </m:r>
                      </m:e>
                      <m:sub>
                        <m:r>
                          <a:rPr lang="en-US" sz="2500" b="0" i="1" smtClean="0">
                            <a:latin typeface="Cambria Math" panose="02040503050406030204" pitchFamily="18" charset="0"/>
                          </a:rPr>
                          <m:t>𝑦</m:t>
                        </m:r>
                      </m:sub>
                    </m:sSub>
                  </m:oMath>
                </a14:m>
                <a:r>
                  <a:rPr lang="en-US" sz="2500" dirty="0">
                    <a:latin typeface="Calibri" panose="020F0502020204030204" pitchFamily="34" charset="0"/>
                    <a:ea typeface="Calibri" panose="020F0502020204030204" pitchFamily="34" charset="0"/>
                    <a:cs typeface="Calibri" panose="020F0502020204030204" pitchFamily="34" charset="0"/>
                  </a:rPr>
                  <a:t>  with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𝐶</m:t>
                        </m:r>
                      </m:e>
                      <m:sub>
                        <m:r>
                          <a:rPr lang="en-US" sz="2500" b="0" i="1" smtClean="0">
                            <a:latin typeface="Cambria Math" panose="02040503050406030204" pitchFamily="18" charset="0"/>
                          </a:rPr>
                          <m:t>𝑎𝑡</m:t>
                        </m:r>
                      </m:sub>
                    </m:sSub>
                    <m:r>
                      <a:rPr lang="en-US" sz="2500" b="0" i="1" smtClean="0">
                        <a:latin typeface="Cambria Math" panose="02040503050406030204" pitchFamily="18" charset="0"/>
                      </a:rPr>
                      <m:t>=0.9,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𝐶</m:t>
                        </m:r>
                      </m:e>
                      <m:sub>
                        <m:r>
                          <a:rPr lang="en-US" sz="2500" b="0" i="1" smtClean="0">
                            <a:latin typeface="Cambria Math" panose="02040503050406030204" pitchFamily="18" charset="0"/>
                          </a:rPr>
                          <m:t>𝑎𝑧</m:t>
                        </m:r>
                      </m:sub>
                    </m:sSub>
                    <m:r>
                      <a:rPr lang="en-US" sz="2500" b="0" i="1" smtClean="0">
                        <a:latin typeface="Cambria Math" panose="02040503050406030204" pitchFamily="18" charset="0"/>
                      </a:rPr>
                      <m:t>=1.2,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𝐶</m:t>
                        </m:r>
                      </m:e>
                      <m:sub>
                        <m:r>
                          <a:rPr lang="en-US" sz="2500" b="0" i="1" smtClean="0">
                            <a:latin typeface="Cambria Math" panose="02040503050406030204" pitchFamily="18" charset="0"/>
                          </a:rPr>
                          <m:t>𝑑𝑡</m:t>
                        </m:r>
                      </m:sub>
                    </m:sSub>
                    <m:r>
                      <a:rPr lang="en-US" sz="2500" b="0" i="1" smtClean="0">
                        <a:latin typeface="Cambria Math" panose="02040503050406030204" pitchFamily="18" charset="0"/>
                      </a:rPr>
                      <m:t>=1.0,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𝐶</m:t>
                        </m:r>
                      </m:e>
                      <m:sub>
                        <m:r>
                          <a:rPr lang="en-US" sz="2500" b="0" i="1" smtClean="0">
                            <a:latin typeface="Cambria Math" panose="02040503050406030204" pitchFamily="18" charset="0"/>
                          </a:rPr>
                          <m:t>𝑑𝑧</m:t>
                        </m:r>
                      </m:sub>
                    </m:sSub>
                    <m:r>
                      <a:rPr lang="en-US" sz="2500" b="0" i="1" smtClean="0">
                        <a:latin typeface="Cambria Math" panose="02040503050406030204" pitchFamily="18" charset="0"/>
                      </a:rPr>
                      <m:t>=4.0</m:t>
                    </m:r>
                  </m:oMath>
                </a14:m>
                <a:r>
                  <a:rPr lang="en-US" sz="2500" dirty="0">
                    <a:latin typeface="Calibri" panose="020F0502020204030204" pitchFamily="34" charset="0"/>
                    <a:ea typeface="Calibri" panose="020F0502020204030204" pitchFamily="34" charset="0"/>
                    <a:cs typeface="Calibri" panose="020F0502020204030204" pitchFamily="34" charset="0"/>
                  </a:rPr>
                  <a:t> </a:t>
                </a:r>
              </a:p>
              <a:p>
                <a:pPr>
                  <a:lnSpc>
                    <a:spcPct val="150000"/>
                  </a:lnSpc>
                </a:pPr>
                <a:r>
                  <a:rPr lang="en-US" sz="2500" dirty="0">
                    <a:latin typeface="Calibri" panose="020F0502020204030204" pitchFamily="34" charset="0"/>
                    <a:ea typeface="Calibri" panose="020F0502020204030204" pitchFamily="34" charset="0"/>
                    <a:cs typeface="Calibri" panose="020F0502020204030204" pitchFamily="34" charset="0"/>
                  </a:rPr>
                  <a:t>Design variable: </a:t>
                </a:r>
                <a14:m>
                  <m:oMath xmlns:m="http://schemas.openxmlformats.org/officeDocument/2006/math">
                    <m:r>
                      <a:rPr lang="en-US" sz="2500" b="0" i="1" smtClean="0">
                        <a:latin typeface="Cambria Math" panose="02040503050406030204" pitchFamily="18" charset="0"/>
                        <a:ea typeface="Calibri" panose="020F0502020204030204" pitchFamily="34" charset="0"/>
                        <a:cs typeface="Calibri" panose="020F0502020204030204" pitchFamily="34" charset="0"/>
                      </a:rPr>
                      <m:t>𝑥</m:t>
                    </m:r>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𝑎𝑡</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𝑎𝑧</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𝑑𝑡</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𝐶</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𝑑𝑧</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oMath>
                </a14:m>
                <a:r>
                  <a:rPr lang="en-US" sz="2500" dirty="0">
                    <a:latin typeface="Calibri" panose="020F0502020204030204" pitchFamily="34" charset="0"/>
                    <a:ea typeface="Calibri" panose="020F0502020204030204" pitchFamily="34" charset="0"/>
                    <a:cs typeface="Calibri" panose="020F0502020204030204" pitchFamily="34" charset="0"/>
                  </a:rPr>
                  <a:t> with two different bounds </a:t>
                </a:r>
              </a:p>
              <a:p>
                <a:pPr>
                  <a:lnSpc>
                    <a:spcPct val="150000"/>
                  </a:lnSpc>
                </a:pPr>
                <a14:m>
                  <m:oMath xmlns:m="http://schemas.openxmlformats.org/officeDocument/2006/math">
                    <m:sSup>
                      <m:sSup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500" b="0" i="1" smtClean="0">
                            <a:latin typeface="Cambria Math" panose="02040503050406030204" pitchFamily="18" charset="0"/>
                            <a:ea typeface="Calibri" panose="020F0502020204030204" pitchFamily="34" charset="0"/>
                            <a:cs typeface="Calibri" panose="020F0502020204030204" pitchFamily="34" charset="0"/>
                          </a:rPr>
                          <m:t>1</m:t>
                        </m:r>
                      </m:e>
                      <m:sup>
                        <m:r>
                          <a:rPr lang="en-US" sz="2500" b="0" i="1" smtClean="0">
                            <a:latin typeface="Cambria Math" panose="02040503050406030204" pitchFamily="18" charset="0"/>
                            <a:ea typeface="Calibri" panose="020F0502020204030204" pitchFamily="34" charset="0"/>
                            <a:cs typeface="Calibri" panose="020F0502020204030204" pitchFamily="34" charset="0"/>
                          </a:rPr>
                          <m:t>𝑠𝑡</m:t>
                        </m:r>
                      </m:sup>
                    </m:sSup>
                    <m:r>
                      <a:rPr lang="en-US" sz="2500" b="0" i="1" smtClean="0">
                        <a:latin typeface="Cambria Math" panose="02040503050406030204" pitchFamily="18" charset="0"/>
                        <a:ea typeface="Calibri" panose="020F0502020204030204" pitchFamily="34" charset="0"/>
                        <a:cs typeface="Calibri" panose="020F0502020204030204" pitchFamily="34" charset="0"/>
                      </a:rPr>
                      <m:t> </m:t>
                    </m:r>
                    <m:r>
                      <a:rPr lang="en-US" sz="2500" b="0" i="1" smtClean="0">
                        <a:latin typeface="Cambria Math" panose="02040503050406030204" pitchFamily="18" charset="0"/>
                        <a:ea typeface="Calibri" panose="020F0502020204030204" pitchFamily="34" charset="0"/>
                        <a:cs typeface="Calibri" panose="020F0502020204030204" pitchFamily="34" charset="0"/>
                      </a:rPr>
                      <m:t>𝐵𝑜𝑢𝑛𝑑</m:t>
                    </m:r>
                    <m:r>
                      <a:rPr lang="en-US" sz="2500" b="0" i="1" smtClean="0">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n-US" sz="2500" b="0" i="1" smtClean="0">
                            <a:latin typeface="Cambria Math" panose="02040503050406030204" pitchFamily="18" charset="0"/>
                            <a:ea typeface="Calibri" panose="020F0502020204030204" pitchFamily="34" charset="0"/>
                            <a:cs typeface="Calibri" panose="020F0502020204030204" pitchFamily="34" charset="0"/>
                          </a:rPr>
                        </m:ctrlPr>
                      </m:dPr>
                      <m:e>
                        <m:r>
                          <a:rPr lang="en-US" sz="2500" b="0" i="1" smtClean="0">
                            <a:latin typeface="Cambria Math" panose="02040503050406030204" pitchFamily="18" charset="0"/>
                            <a:ea typeface="Calibri" panose="020F0502020204030204" pitchFamily="34" charset="0"/>
                            <a:cs typeface="Calibri" panose="020F0502020204030204" pitchFamily="34" charset="0"/>
                          </a:rPr>
                          <m:t>0.1 0.1 0.1 0.1</m:t>
                        </m:r>
                      </m:e>
                    </m:d>
                    <m:r>
                      <a:rPr lang="en-US" sz="2500" b="0" i="1" smtClean="0">
                        <a:latin typeface="Cambria Math" panose="02040503050406030204" pitchFamily="18" charset="0"/>
                        <a:ea typeface="Cambria Math" panose="02040503050406030204" pitchFamily="18" charset="0"/>
                        <a:cs typeface="Calibri" panose="020F0502020204030204" pitchFamily="34" charset="0"/>
                      </a:rPr>
                      <m:t>≤</m:t>
                    </m:r>
                    <m:r>
                      <a:rPr lang="en-US" sz="2500" b="0" i="1" smtClean="0">
                        <a:latin typeface="Cambria Math" panose="02040503050406030204" pitchFamily="18" charset="0"/>
                        <a:ea typeface="Cambria Math" panose="02040503050406030204" pitchFamily="18" charset="0"/>
                        <a:cs typeface="Calibri" panose="020F0502020204030204" pitchFamily="34" charset="0"/>
                      </a:rPr>
                      <m:t>𝑥</m:t>
                    </m:r>
                    <m:r>
                      <a:rPr lang="en-US" sz="2500" b="0" i="1" smtClean="0">
                        <a:latin typeface="Cambria Math" panose="02040503050406030204" pitchFamily="18" charset="0"/>
                        <a:ea typeface="Cambria Math" panose="02040503050406030204" pitchFamily="18" charset="0"/>
                        <a:cs typeface="Calibri" panose="020F0502020204030204" pitchFamily="34" charset="0"/>
                      </a:rPr>
                      <m:t>≤[2.0 2.0 2.0 5.0]</m:t>
                    </m:r>
                  </m:oMath>
                </a14:m>
                <a:r>
                  <a:rPr lang="en-US" sz="25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sSup>
                      <m:sSupPr>
                        <m:ctrlPr>
                          <a:rPr lang="en-US" sz="2500" i="1">
                            <a:latin typeface="Cambria Math" panose="02040503050406030204" pitchFamily="18" charset="0"/>
                            <a:ea typeface="Calibri" panose="020F0502020204030204" pitchFamily="34" charset="0"/>
                            <a:cs typeface="Calibri" panose="020F0502020204030204" pitchFamily="34" charset="0"/>
                          </a:rPr>
                        </m:ctrlPr>
                      </m:sSupPr>
                      <m:e>
                        <m:r>
                          <a:rPr lang="en-US" sz="2500" b="0" i="1" smtClean="0">
                            <a:latin typeface="Cambria Math" panose="02040503050406030204" pitchFamily="18" charset="0"/>
                            <a:ea typeface="Calibri" panose="020F0502020204030204" pitchFamily="34" charset="0"/>
                            <a:cs typeface="Calibri" panose="020F0502020204030204" pitchFamily="34" charset="0"/>
                          </a:rPr>
                          <m:t>2</m:t>
                        </m:r>
                      </m:e>
                      <m:sup>
                        <m:r>
                          <a:rPr lang="en-US" sz="2500" b="0" i="1" smtClean="0">
                            <a:latin typeface="Cambria Math" panose="02040503050406030204" pitchFamily="18" charset="0"/>
                            <a:ea typeface="Calibri" panose="020F0502020204030204" pitchFamily="34" charset="0"/>
                            <a:cs typeface="Calibri" panose="020F0502020204030204" pitchFamily="34" charset="0"/>
                          </a:rPr>
                          <m:t>𝑛𝑑</m:t>
                        </m:r>
                      </m:sup>
                    </m:sSup>
                    <m:r>
                      <a:rPr lang="en-US" sz="2500" i="1">
                        <a:latin typeface="Cambria Math" panose="02040503050406030204" pitchFamily="18" charset="0"/>
                        <a:ea typeface="Calibri" panose="020F0502020204030204" pitchFamily="34" charset="0"/>
                        <a:cs typeface="Calibri" panose="020F0502020204030204" pitchFamily="34" charset="0"/>
                      </a:rPr>
                      <m:t> </m:t>
                    </m:r>
                    <m:r>
                      <a:rPr lang="en-US" sz="2500" i="1">
                        <a:latin typeface="Cambria Math" panose="02040503050406030204" pitchFamily="18" charset="0"/>
                        <a:ea typeface="Calibri" panose="020F0502020204030204" pitchFamily="34" charset="0"/>
                        <a:cs typeface="Calibri" panose="020F0502020204030204" pitchFamily="34" charset="0"/>
                      </a:rPr>
                      <m:t>𝐵𝑜𝑢𝑛𝑑</m:t>
                    </m:r>
                    <m:r>
                      <a:rPr lang="en-US" sz="2500" i="1">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n-US" sz="2500" i="1">
                            <a:latin typeface="Cambria Math" panose="02040503050406030204" pitchFamily="18" charset="0"/>
                            <a:ea typeface="Calibri" panose="020F0502020204030204" pitchFamily="34" charset="0"/>
                            <a:cs typeface="Calibri" panose="020F0502020204030204" pitchFamily="34" charset="0"/>
                          </a:rPr>
                        </m:ctrlPr>
                      </m:dPr>
                      <m:e>
                        <m:r>
                          <a:rPr lang="en-US" sz="2500" i="1">
                            <a:latin typeface="Cambria Math" panose="02040503050406030204" pitchFamily="18" charset="0"/>
                            <a:ea typeface="Calibri" panose="020F0502020204030204" pitchFamily="34" charset="0"/>
                            <a:cs typeface="Calibri" panose="020F0502020204030204" pitchFamily="34" charset="0"/>
                          </a:rPr>
                          <m:t>0.1 0.1 0.1 0.1</m:t>
                        </m:r>
                      </m:e>
                    </m:d>
                    <m:r>
                      <a:rPr lang="en-US" sz="2500" i="1">
                        <a:latin typeface="Cambria Math" panose="02040503050406030204" pitchFamily="18" charset="0"/>
                        <a:ea typeface="Cambria Math" panose="02040503050406030204" pitchFamily="18" charset="0"/>
                        <a:cs typeface="Calibri" panose="020F0502020204030204" pitchFamily="34" charset="0"/>
                      </a:rPr>
                      <m:t>≤</m:t>
                    </m:r>
                    <m:r>
                      <a:rPr lang="en-US" sz="2500" i="1">
                        <a:latin typeface="Cambria Math" panose="02040503050406030204" pitchFamily="18" charset="0"/>
                        <a:ea typeface="Cambria Math" panose="02040503050406030204" pitchFamily="18" charset="0"/>
                        <a:cs typeface="Calibri" panose="020F0502020204030204" pitchFamily="34" charset="0"/>
                      </a:rPr>
                      <m:t>𝑥</m:t>
                    </m:r>
                    <m:r>
                      <a:rPr lang="en-US" sz="2500" i="1">
                        <a:latin typeface="Cambria Math" panose="02040503050406030204" pitchFamily="18" charset="0"/>
                        <a:ea typeface="Cambria Math" panose="02040503050406030204" pitchFamily="18" charset="0"/>
                        <a:cs typeface="Calibri" panose="020F0502020204030204" pitchFamily="34" charset="0"/>
                      </a:rPr>
                      <m:t>≤[10.0 10.0 10.0 10.0]</m:t>
                    </m:r>
                  </m:oMath>
                </a14:m>
                <a:endParaRPr lang="en-US" sz="25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14:m>
                  <m:oMathPara xmlns:m="http://schemas.openxmlformats.org/officeDocument/2006/math">
                    <m:oMathParaPr>
                      <m:jc m:val="left"/>
                    </m:oMathParaPr>
                    <m:oMath xmlns:m="http://schemas.openxmlformats.org/officeDocument/2006/math">
                      <m:r>
                        <a:rPr lang="en-US" sz="2500" b="0" i="1" smtClean="0">
                          <a:latin typeface="Cambria Math" panose="02040503050406030204" pitchFamily="18" charset="0"/>
                          <a:ea typeface="Calibri" panose="020F0502020204030204" pitchFamily="34" charset="0"/>
                          <a:cs typeface="Calibri" panose="020F0502020204030204" pitchFamily="34" charset="0"/>
                        </a:rPr>
                        <m:t>𝐽</m:t>
                      </m:r>
                      <m:d>
                        <m:d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d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d>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𝑥</m:t>
                          </m:r>
                        </m:sub>
                      </m:sSub>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𝐹</m:t>
                          </m:r>
                        </m:e>
                        <m:sub>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𝑥</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𝑅𝑀𝑆𝐸</m:t>
                              </m:r>
                            </m:sub>
                          </m:sSub>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i="1">
                              <a:latin typeface="Cambria Math" panose="02040503050406030204" pitchFamily="18" charset="0"/>
                              <a:ea typeface="Calibri" panose="020F0502020204030204" pitchFamily="34" charset="0"/>
                              <a:cs typeface="Calibri" panose="020F0502020204030204" pitchFamily="34" charset="0"/>
                            </a:rPr>
                          </m:ctrlPr>
                        </m:sSubPr>
                        <m:e>
                          <m:r>
                            <a:rPr lang="en-US" sz="2500" i="1">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𝑧</m:t>
                          </m:r>
                        </m:sub>
                      </m:sSub>
                      <m:sSub>
                        <m:sSubPr>
                          <m:ctrlPr>
                            <a:rPr lang="en-US" sz="2500" i="1">
                              <a:latin typeface="Cambria Math" panose="02040503050406030204" pitchFamily="18" charset="0"/>
                              <a:ea typeface="Calibri" panose="020F0502020204030204" pitchFamily="34" charset="0"/>
                              <a:cs typeface="Calibri" panose="020F0502020204030204" pitchFamily="34" charset="0"/>
                            </a:rPr>
                          </m:ctrlPr>
                        </m:sSubPr>
                        <m:e>
                          <m:r>
                            <a:rPr lang="en-US" sz="2500" i="1">
                              <a:latin typeface="Cambria Math" panose="02040503050406030204" pitchFamily="18" charset="0"/>
                              <a:ea typeface="Calibri" panose="020F0502020204030204" pitchFamily="34" charset="0"/>
                              <a:cs typeface="Calibri" panose="020F0502020204030204" pitchFamily="34" charset="0"/>
                            </a:rPr>
                            <m:t>𝐹</m:t>
                          </m:r>
                        </m:e>
                        <m:sub>
                          <m:sSub>
                            <m:sSubPr>
                              <m:ctrlPr>
                                <a:rPr lang="en-US" sz="2500" i="1">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𝑧</m:t>
                              </m:r>
                            </m:e>
                            <m:sub>
                              <m:r>
                                <a:rPr lang="en-US" sz="2500" i="1">
                                  <a:latin typeface="Cambria Math" panose="02040503050406030204" pitchFamily="18" charset="0"/>
                                  <a:ea typeface="Calibri" panose="020F0502020204030204" pitchFamily="34" charset="0"/>
                                  <a:cs typeface="Calibri" panose="020F0502020204030204" pitchFamily="34" charset="0"/>
                                </a:rPr>
                                <m:t>𝑅𝑀𝑆𝐸</m:t>
                              </m:r>
                            </m:sub>
                          </m:sSub>
                        </m:sub>
                      </m:sSub>
                      <m:r>
                        <a:rPr lang="en-US" sz="25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2500" i="1">
                              <a:latin typeface="Cambria Math" panose="02040503050406030204" pitchFamily="18" charset="0"/>
                              <a:ea typeface="Calibri" panose="020F0502020204030204" pitchFamily="34" charset="0"/>
                              <a:cs typeface="Calibri" panose="020F0502020204030204" pitchFamily="34" charset="0"/>
                            </a:rPr>
                          </m:ctrlPr>
                        </m:sSubPr>
                        <m:e>
                          <m:r>
                            <a:rPr lang="en-US" sz="2500" i="1">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𝑦</m:t>
                          </m:r>
                        </m:sub>
                      </m:sSub>
                      <m:sSub>
                        <m:sSubPr>
                          <m:ctrlPr>
                            <a:rPr lang="en-US" sz="2500" i="1">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𝑀</m:t>
                          </m:r>
                        </m:e>
                        <m:sub>
                          <m:sSub>
                            <m:sSubPr>
                              <m:ctrlPr>
                                <a:rPr lang="en-US" sz="2500" i="1">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𝑦</m:t>
                              </m:r>
                            </m:e>
                            <m:sub>
                              <m:r>
                                <a:rPr lang="en-US" sz="2500" i="1">
                                  <a:latin typeface="Cambria Math" panose="02040503050406030204" pitchFamily="18" charset="0"/>
                                  <a:ea typeface="Calibri" panose="020F0502020204030204" pitchFamily="34" charset="0"/>
                                  <a:cs typeface="Calibri" panose="020F0502020204030204" pitchFamily="34" charset="0"/>
                                </a:rPr>
                                <m:t>𝑅𝑀𝑆𝐸</m:t>
                              </m:r>
                            </m:sub>
                          </m:sSub>
                        </m:sub>
                      </m:sSub>
                      <m:r>
                        <a:rPr lang="en-US" sz="2500" b="0" i="1" smtClean="0">
                          <a:latin typeface="Cambria Math" panose="02040503050406030204" pitchFamily="18" charset="0"/>
                          <a:ea typeface="Calibri" panose="020F0502020204030204" pitchFamily="34" charset="0"/>
                          <a:cs typeface="Calibri" panose="020F0502020204030204" pitchFamily="34" charset="0"/>
                        </a:rPr>
                        <m:t>      </m:t>
                      </m:r>
                      <m:r>
                        <a:rPr lang="en-US" sz="2500" b="0" i="1" smtClean="0">
                          <a:latin typeface="Cambria Math" panose="02040503050406030204" pitchFamily="18" charset="0"/>
                          <a:ea typeface="Calibri" panose="020F0502020204030204" pitchFamily="34" charset="0"/>
                          <a:cs typeface="Calibri" panose="020F0502020204030204" pitchFamily="34" charset="0"/>
                        </a:rPr>
                        <m:t>𝑤h𝑒𝑟𝑒</m:t>
                      </m:r>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𝑥</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=1.0,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𝑧</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=1.0, </m:t>
                      </m:r>
                      <m:r>
                        <a:rPr lang="en-US" sz="2500" b="0" i="1" smtClean="0">
                          <a:latin typeface="Cambria Math" panose="02040503050406030204" pitchFamily="18" charset="0"/>
                          <a:ea typeface="Calibri" panose="020F0502020204030204" pitchFamily="34" charset="0"/>
                          <a:cs typeface="Calibri" panose="020F0502020204030204" pitchFamily="34" charset="0"/>
                        </a:rPr>
                        <m:t>𝑎𝑛𝑑</m:t>
                      </m:r>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𝑤</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𝑦</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=0.0</m:t>
                      </m:r>
                    </m:oMath>
                  </m:oMathPara>
                </a14:m>
                <a:endParaRPr lang="en-US" sz="25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Box 39">
                <a:extLst>
                  <a:ext uri="{FF2B5EF4-FFF2-40B4-BE49-F238E27FC236}">
                    <a16:creationId xmlns:a16="http://schemas.microsoft.com/office/drawing/2014/main" id="{A8E3D09A-1887-C57E-5BA2-9E4350D03DD3}"/>
                  </a:ext>
                </a:extLst>
              </p:cNvPr>
              <p:cNvSpPr txBox="1">
                <a:spLocks noRot="1" noChangeAspect="1" noMove="1" noResize="1" noEditPoints="1" noAdjustHandles="1" noChangeArrowheads="1" noChangeShapeType="1" noTextEdit="1"/>
              </p:cNvSpPr>
              <p:nvPr/>
            </p:nvSpPr>
            <p:spPr>
              <a:xfrm>
                <a:off x="13609092" y="13462321"/>
                <a:ext cx="15313792" cy="2510624"/>
              </a:xfrm>
              <a:prstGeom prst="rect">
                <a:avLst/>
              </a:prstGeom>
              <a:blipFill>
                <a:blip r:embed="rId13"/>
                <a:stretch>
                  <a:fillRect l="-637" r="-239"/>
                </a:stretch>
              </a:blipFill>
            </p:spPr>
            <p:txBody>
              <a:bodyPr/>
              <a:lstStyle/>
              <a:p>
                <a:r>
                  <a:rPr lang="en-US">
                    <a:noFill/>
                  </a:rPr>
                  <a:t> </a:t>
                </a:r>
              </a:p>
            </p:txBody>
          </p:sp>
        </mc:Fallback>
      </mc:AlternateContent>
      <p:pic>
        <p:nvPicPr>
          <p:cNvPr id="43" name="Picture 42">
            <a:extLst>
              <a:ext uri="{FF2B5EF4-FFF2-40B4-BE49-F238E27FC236}">
                <a16:creationId xmlns:a16="http://schemas.microsoft.com/office/drawing/2014/main" id="{61D56E4F-6F26-3D82-289D-1F407001D9EF}"/>
              </a:ext>
            </a:extLst>
          </p:cNvPr>
          <p:cNvPicPr>
            <a:picLocks noChangeAspect="1"/>
          </p:cNvPicPr>
          <p:nvPr/>
        </p:nvPicPr>
        <p:blipFill>
          <a:blip r:embed="rId14"/>
          <a:stretch>
            <a:fillRect/>
          </a:stretch>
        </p:blipFill>
        <p:spPr>
          <a:xfrm>
            <a:off x="20512809" y="15975476"/>
            <a:ext cx="4248743" cy="3600953"/>
          </a:xfrm>
          <a:prstGeom prst="rect">
            <a:avLst/>
          </a:prstGeom>
        </p:spPr>
      </p:pic>
      <p:pic>
        <p:nvPicPr>
          <p:cNvPr id="45" name="Picture 44">
            <a:extLst>
              <a:ext uri="{FF2B5EF4-FFF2-40B4-BE49-F238E27FC236}">
                <a16:creationId xmlns:a16="http://schemas.microsoft.com/office/drawing/2014/main" id="{ACC24166-C4CE-FD28-E377-2ADC76A8E7BD}"/>
              </a:ext>
            </a:extLst>
          </p:cNvPr>
          <p:cNvPicPr>
            <a:picLocks noChangeAspect="1"/>
          </p:cNvPicPr>
          <p:nvPr/>
        </p:nvPicPr>
        <p:blipFill>
          <a:blip r:embed="rId15"/>
          <a:stretch>
            <a:fillRect/>
          </a:stretch>
        </p:blipFill>
        <p:spPr>
          <a:xfrm>
            <a:off x="20512809" y="19673071"/>
            <a:ext cx="4248742" cy="2772162"/>
          </a:xfrm>
          <a:prstGeom prst="rect">
            <a:avLst/>
          </a:prstGeom>
        </p:spPr>
      </p:pic>
      <p:pic>
        <p:nvPicPr>
          <p:cNvPr id="47" name="Picture 46">
            <a:extLst>
              <a:ext uri="{FF2B5EF4-FFF2-40B4-BE49-F238E27FC236}">
                <a16:creationId xmlns:a16="http://schemas.microsoft.com/office/drawing/2014/main" id="{50AD3234-D4D4-D820-B40B-B0BF4A5FFEAD}"/>
              </a:ext>
            </a:extLst>
          </p:cNvPr>
          <p:cNvPicPr>
            <a:picLocks noChangeAspect="1"/>
          </p:cNvPicPr>
          <p:nvPr/>
        </p:nvPicPr>
        <p:blipFill>
          <a:blip r:embed="rId16"/>
          <a:stretch>
            <a:fillRect/>
          </a:stretch>
        </p:blipFill>
        <p:spPr>
          <a:xfrm>
            <a:off x="24860349" y="15937376"/>
            <a:ext cx="4020111" cy="4134427"/>
          </a:xfrm>
          <a:prstGeom prst="rect">
            <a:avLst/>
          </a:prstGeom>
        </p:spPr>
      </p:pic>
      <p:sp>
        <p:nvSpPr>
          <p:cNvPr id="48" name="TextBox 47">
            <a:extLst>
              <a:ext uri="{FF2B5EF4-FFF2-40B4-BE49-F238E27FC236}">
                <a16:creationId xmlns:a16="http://schemas.microsoft.com/office/drawing/2014/main" id="{06238AA9-417A-40E1-7A43-D8878489E249}"/>
              </a:ext>
            </a:extLst>
          </p:cNvPr>
          <p:cNvSpPr txBox="1"/>
          <p:nvPr/>
        </p:nvSpPr>
        <p:spPr>
          <a:xfrm>
            <a:off x="24860349" y="20262303"/>
            <a:ext cx="402011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Automatic tuning via GA reducing manual tedious tuning</a:t>
            </a:r>
          </a:p>
          <a:p>
            <a:pPr marL="285750" indent="-285750">
              <a:buFont typeface="Arial" panose="020B0604020202020204" pitchFamily="34" charset="0"/>
              <a:buChar char="•"/>
            </a:pPr>
            <a:r>
              <a:rPr lang="en-US" dirty="0"/>
              <a:t>Fast convergence (1</a:t>
            </a:r>
            <a:r>
              <a:rPr lang="en-US" baseline="30000" dirty="0"/>
              <a:t>st</a:t>
            </a:r>
            <a:r>
              <a:rPr lang="en-US" dirty="0"/>
              <a:t> bound)</a:t>
            </a:r>
          </a:p>
          <a:p>
            <a:pPr marL="285750" indent="-285750">
              <a:buFont typeface="Arial" panose="020B0604020202020204" pitchFamily="34" charset="0"/>
              <a:buChar char="•"/>
            </a:pPr>
            <a:r>
              <a:rPr lang="en-US" dirty="0"/>
              <a:t>Global search and constrained search based on pre-study</a:t>
            </a:r>
          </a:p>
          <a:p>
            <a:pPr marL="285750" indent="-285750">
              <a:buFont typeface="Arial" panose="020B0604020202020204" pitchFamily="34" charset="0"/>
              <a:buChar char="•"/>
            </a:pPr>
            <a:r>
              <a:rPr lang="en-US" dirty="0"/>
              <a:t>More generic structure, easily can be adapted for other configurations.</a:t>
            </a:r>
          </a:p>
        </p:txBody>
      </p:sp>
      <p:sp>
        <p:nvSpPr>
          <p:cNvPr id="49" name="TextBox 48">
            <a:extLst>
              <a:ext uri="{FF2B5EF4-FFF2-40B4-BE49-F238E27FC236}">
                <a16:creationId xmlns:a16="http://schemas.microsoft.com/office/drawing/2014/main" id="{B0246798-6E4D-ED32-D042-4AFE850000F8}"/>
              </a:ext>
            </a:extLst>
          </p:cNvPr>
          <p:cNvSpPr txBox="1"/>
          <p:nvPr/>
        </p:nvSpPr>
        <p:spPr>
          <a:xfrm>
            <a:off x="13595801" y="22644013"/>
            <a:ext cx="15383458" cy="720949"/>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Results (Floating Platforms)</a:t>
            </a:r>
          </a:p>
        </p:txBody>
      </p:sp>
      <p:sp>
        <p:nvSpPr>
          <p:cNvPr id="2" name="TextBox 1">
            <a:extLst>
              <a:ext uri="{FF2B5EF4-FFF2-40B4-BE49-F238E27FC236}">
                <a16:creationId xmlns:a16="http://schemas.microsoft.com/office/drawing/2014/main" id="{A7D01477-64F2-6364-91D0-28B448A7F69B}"/>
              </a:ext>
            </a:extLst>
          </p:cNvPr>
          <p:cNvSpPr txBox="1"/>
          <p:nvPr/>
        </p:nvSpPr>
        <p:spPr>
          <a:xfrm>
            <a:off x="13609092" y="23560906"/>
            <a:ext cx="4861788" cy="477054"/>
          </a:xfrm>
          <a:prstGeom prst="rect">
            <a:avLst/>
          </a:prstGeom>
          <a:noFill/>
        </p:spPr>
        <p:txBody>
          <a:bodyPr wrap="square" rtlCol="0">
            <a:spAutoFit/>
          </a:bodyPr>
          <a:lstStyle/>
          <a:p>
            <a:r>
              <a:rPr lang="en-US" sz="2500" b="1" dirty="0">
                <a:latin typeface="Calibri" panose="020F0502020204030204" pitchFamily="34" charset="0"/>
                <a:ea typeface="Calibri" panose="020F0502020204030204" pitchFamily="34" charset="0"/>
                <a:cs typeface="Calibri" panose="020F0502020204030204" pitchFamily="34" charset="0"/>
              </a:rPr>
              <a:t>Case Study 1: Spar-Buoy Platform</a:t>
            </a:r>
          </a:p>
        </p:txBody>
      </p:sp>
      <p:pic>
        <p:nvPicPr>
          <p:cNvPr id="6" name="Picture 5">
            <a:extLst>
              <a:ext uri="{FF2B5EF4-FFF2-40B4-BE49-F238E27FC236}">
                <a16:creationId xmlns:a16="http://schemas.microsoft.com/office/drawing/2014/main" id="{30A2B18F-F438-858B-6083-A772EEC24EE1}"/>
              </a:ext>
            </a:extLst>
          </p:cNvPr>
          <p:cNvPicPr>
            <a:picLocks noChangeAspect="1"/>
          </p:cNvPicPr>
          <p:nvPr/>
        </p:nvPicPr>
        <p:blipFill>
          <a:blip r:embed="rId17"/>
          <a:stretch>
            <a:fillRect/>
          </a:stretch>
        </p:blipFill>
        <p:spPr>
          <a:xfrm>
            <a:off x="13812877" y="24100361"/>
            <a:ext cx="7383213" cy="5593757"/>
          </a:xfrm>
          <a:prstGeom prst="rect">
            <a:avLst/>
          </a:prstGeom>
        </p:spPr>
      </p:pic>
      <p:pic>
        <p:nvPicPr>
          <p:cNvPr id="15" name="Picture 14">
            <a:extLst>
              <a:ext uri="{FF2B5EF4-FFF2-40B4-BE49-F238E27FC236}">
                <a16:creationId xmlns:a16="http://schemas.microsoft.com/office/drawing/2014/main" id="{7166E66E-AEC4-D3A4-4150-A58B142A6DD6}"/>
              </a:ext>
            </a:extLst>
          </p:cNvPr>
          <p:cNvPicPr>
            <a:picLocks noChangeAspect="1"/>
          </p:cNvPicPr>
          <p:nvPr/>
        </p:nvPicPr>
        <p:blipFill>
          <a:blip r:embed="rId18"/>
          <a:stretch>
            <a:fillRect/>
          </a:stretch>
        </p:blipFill>
        <p:spPr>
          <a:xfrm>
            <a:off x="21376566" y="25054651"/>
            <a:ext cx="7573514" cy="7634699"/>
          </a:xfrm>
          <a:prstGeom prst="rect">
            <a:avLst/>
          </a:prstGeom>
        </p:spPr>
      </p:pic>
      <p:sp>
        <p:nvSpPr>
          <p:cNvPr id="21" name="TextBox 20">
            <a:extLst>
              <a:ext uri="{FF2B5EF4-FFF2-40B4-BE49-F238E27FC236}">
                <a16:creationId xmlns:a16="http://schemas.microsoft.com/office/drawing/2014/main" id="{37F5FC7A-5655-2584-1017-F98AE3AF8EA8}"/>
              </a:ext>
            </a:extLst>
          </p:cNvPr>
          <p:cNvSpPr txBox="1"/>
          <p:nvPr/>
        </p:nvSpPr>
        <p:spPr>
          <a:xfrm>
            <a:off x="29276795" y="7451065"/>
            <a:ext cx="6289994" cy="477054"/>
          </a:xfrm>
          <a:prstGeom prst="rect">
            <a:avLst/>
          </a:prstGeom>
          <a:noFill/>
        </p:spPr>
        <p:txBody>
          <a:bodyPr wrap="square" rtlCol="0">
            <a:spAutoFit/>
          </a:bodyPr>
          <a:lstStyle/>
          <a:p>
            <a:r>
              <a:rPr lang="en-US" sz="2500" b="1" dirty="0">
                <a:latin typeface="Calibri" panose="020F0502020204030204" pitchFamily="34" charset="0"/>
                <a:ea typeface="Calibri" panose="020F0502020204030204" pitchFamily="34" charset="0"/>
                <a:cs typeface="Calibri" panose="020F0502020204030204" pitchFamily="34" charset="0"/>
              </a:rPr>
              <a:t>Case Study 2: Semi-Submersible Platform</a:t>
            </a:r>
          </a:p>
        </p:txBody>
      </p:sp>
      <p:sp>
        <p:nvSpPr>
          <p:cNvPr id="28" name="TextBox 27">
            <a:extLst>
              <a:ext uri="{FF2B5EF4-FFF2-40B4-BE49-F238E27FC236}">
                <a16:creationId xmlns:a16="http://schemas.microsoft.com/office/drawing/2014/main" id="{0C70DD1F-DE48-AF2B-D6F9-5861F6617057}"/>
              </a:ext>
            </a:extLst>
          </p:cNvPr>
          <p:cNvSpPr txBox="1"/>
          <p:nvPr/>
        </p:nvSpPr>
        <p:spPr>
          <a:xfrm>
            <a:off x="29224796" y="18176335"/>
            <a:ext cx="14437804" cy="707886"/>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Conclusions and Future works</a:t>
            </a:r>
          </a:p>
        </p:txBody>
      </p:sp>
      <p:sp>
        <p:nvSpPr>
          <p:cNvPr id="30" name="TextBox 29">
            <a:extLst>
              <a:ext uri="{FF2B5EF4-FFF2-40B4-BE49-F238E27FC236}">
                <a16:creationId xmlns:a16="http://schemas.microsoft.com/office/drawing/2014/main" id="{837B2DE9-22E5-496C-BB57-9624D4030D32}"/>
              </a:ext>
            </a:extLst>
          </p:cNvPr>
          <p:cNvSpPr txBox="1"/>
          <p:nvPr/>
        </p:nvSpPr>
        <p:spPr>
          <a:xfrm>
            <a:off x="29306292" y="19217928"/>
            <a:ext cx="14271591" cy="5863144"/>
          </a:xfrm>
          <a:prstGeom prst="rect">
            <a:avLst/>
          </a:prstGeom>
          <a:noFill/>
        </p:spPr>
        <p:txBody>
          <a:bodyPr wrap="square" rtlCol="0">
            <a:spAutoFit/>
          </a:bodyPr>
          <a:lstStyle/>
          <a:p>
            <a:pPr algn="just"/>
            <a:r>
              <a:rPr lang="en-US" sz="2500" dirty="0">
                <a:latin typeface="Calibri" panose="020F0502020204030204" pitchFamily="34" charset="0"/>
                <a:ea typeface="Calibri" panose="020F0502020204030204" pitchFamily="34" charset="0"/>
                <a:cs typeface="Calibri" panose="020F0502020204030204" pitchFamily="34" charset="0"/>
              </a:rPr>
              <a:t>This study demonstrated a predictive hydrodynamics modeling for FOWTs focusing on the automation of hydrodynamics coefficients applying GA optimization. Accurate hydrodynamic modeling is critical for the modeling and analysis of FOWTs, as hydrodynamic coefficients—including added mass, damping, and drag coefficients—govern the platform’s dynamic responses. The study showed, applying the hydrodynamic coefficients from free decay test,  can lead to inaccurate low frequency response in the irregular wave case. To improve accuracy, recalibrating these coefficients was necessary, and GA-based automatic tuning provided better agreement. Selecting appropriate bounds helped achieve optimal solutions with faster convergence. However, as shown in a fixed-cylinder example, GA can still perform well even without prior knowledge of the solutions.</a:t>
            </a:r>
          </a:p>
          <a:p>
            <a:pPr algn="just"/>
            <a:endParaRPr lang="en-US" sz="2500" dirty="0">
              <a:latin typeface="Calibri" panose="020F0502020204030204" pitchFamily="34" charset="0"/>
              <a:ea typeface="Calibri" panose="020F0502020204030204" pitchFamily="34" charset="0"/>
              <a:cs typeface="Calibri" panose="020F0502020204030204" pitchFamily="34" charset="0"/>
            </a:endParaRPr>
          </a:p>
          <a:p>
            <a:pPr algn="just"/>
            <a:r>
              <a:rPr lang="en-US" sz="2500" dirty="0">
                <a:latin typeface="Calibri" panose="020F0502020204030204" pitchFamily="34" charset="0"/>
                <a:ea typeface="Calibri" panose="020F0502020204030204" pitchFamily="34" charset="0"/>
                <a:cs typeface="Calibri" panose="020F0502020204030204" pitchFamily="34" charset="0"/>
              </a:rPr>
              <a:t>This study was limited to the single objective optimization for calibrating all the coefficients simultaneously. Future study will focus on Mult objective optimization for the specific coefficients sets for the respective dynamic response. Furthermore, this study assumed same coefficients for all column/pontoon in semi-submersible, however, due the spatial wave-kinematics, the same geometric structure might need different values.  </a:t>
            </a:r>
          </a:p>
        </p:txBody>
      </p:sp>
      <p:sp>
        <p:nvSpPr>
          <p:cNvPr id="42" name="TextBox 41">
            <a:extLst>
              <a:ext uri="{FF2B5EF4-FFF2-40B4-BE49-F238E27FC236}">
                <a16:creationId xmlns:a16="http://schemas.microsoft.com/office/drawing/2014/main" id="{96965582-0B43-2C93-5EFB-954FF62216AE}"/>
              </a:ext>
            </a:extLst>
          </p:cNvPr>
          <p:cNvSpPr txBox="1"/>
          <p:nvPr/>
        </p:nvSpPr>
        <p:spPr>
          <a:xfrm>
            <a:off x="29215525" y="25162624"/>
            <a:ext cx="14437804" cy="707886"/>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Acknowledgements</a:t>
            </a:r>
          </a:p>
        </p:txBody>
      </p:sp>
      <p:sp>
        <p:nvSpPr>
          <p:cNvPr id="46" name="TextBox 45">
            <a:extLst>
              <a:ext uri="{FF2B5EF4-FFF2-40B4-BE49-F238E27FC236}">
                <a16:creationId xmlns:a16="http://schemas.microsoft.com/office/drawing/2014/main" id="{2BE189A6-9533-40BE-D5B4-6ABE37EFD8BF}"/>
              </a:ext>
            </a:extLst>
          </p:cNvPr>
          <p:cNvSpPr txBox="1"/>
          <p:nvPr/>
        </p:nvSpPr>
        <p:spPr>
          <a:xfrm>
            <a:off x="29306292" y="26040151"/>
            <a:ext cx="14151513" cy="861774"/>
          </a:xfrm>
          <a:prstGeom prst="rect">
            <a:avLst/>
          </a:prstGeom>
          <a:noFill/>
        </p:spPr>
        <p:txBody>
          <a:bodyPr wrap="square">
            <a:spAutoFit/>
          </a:bodyPr>
          <a:lstStyle/>
          <a:p>
            <a:pPr algn="l"/>
            <a:r>
              <a:rPr lang="en-US" sz="2500" b="0" i="0" u="none" strike="noStrike" baseline="0" dirty="0">
                <a:latin typeface="Calibri" panose="020F0502020204030204" pitchFamily="34" charset="0"/>
                <a:ea typeface="Calibri" panose="020F0502020204030204" pitchFamily="34" charset="0"/>
                <a:cs typeface="Calibri" panose="020F0502020204030204" pitchFamily="34" charset="0"/>
              </a:rPr>
              <a:t>This work is supported by the U.S. Department of Energy Advanced Research Projects Agency for Energy (ARPA-E) under the grant DE-AR0001187[5].</a:t>
            </a:r>
            <a:endParaRPr lang="en-US" sz="2500" dirty="0">
              <a:latin typeface="Calibri" panose="020F0502020204030204" pitchFamily="34" charset="0"/>
              <a:ea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620E2E01-82D5-F5DF-3C5B-253461A11B86}"/>
              </a:ext>
            </a:extLst>
          </p:cNvPr>
          <p:cNvSpPr txBox="1"/>
          <p:nvPr/>
        </p:nvSpPr>
        <p:spPr>
          <a:xfrm>
            <a:off x="29237297" y="27111166"/>
            <a:ext cx="14416032" cy="707886"/>
          </a:xfrm>
          <a:prstGeom prst="rect">
            <a:avLst/>
          </a:prstGeom>
          <a:solidFill>
            <a:schemeClr val="accent1">
              <a:lumMod val="40000"/>
              <a:lumOff val="60000"/>
            </a:schemeClr>
          </a:solidFill>
        </p:spPr>
        <p:txBody>
          <a:bodyPr wrap="square" rtlCol="0">
            <a:spAutoFit/>
          </a:body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52" name="TextBox 51">
            <a:extLst>
              <a:ext uri="{FF2B5EF4-FFF2-40B4-BE49-F238E27FC236}">
                <a16:creationId xmlns:a16="http://schemas.microsoft.com/office/drawing/2014/main" id="{41267322-FFA2-FC96-052F-61BB77AFDF87}"/>
              </a:ext>
            </a:extLst>
          </p:cNvPr>
          <p:cNvSpPr txBox="1"/>
          <p:nvPr/>
        </p:nvSpPr>
        <p:spPr>
          <a:xfrm>
            <a:off x="38689580" y="4185785"/>
            <a:ext cx="4947297" cy="3170099"/>
          </a:xfrm>
          <a:prstGeom prst="rect">
            <a:avLst/>
          </a:prstGeom>
          <a:noFill/>
        </p:spPr>
        <p:txBody>
          <a:bodyPr wrap="square" rtlCol="0">
            <a:spAutoFit/>
          </a:bodyPr>
          <a:lstStyle/>
          <a:p>
            <a:pPr algn="just"/>
            <a:r>
              <a:rPr lang="en-US" sz="2500" dirty="0">
                <a:latin typeface="Calibri" panose="020F0502020204030204" pitchFamily="34" charset="0"/>
                <a:ea typeface="Calibri" panose="020F0502020204030204" pitchFamily="34" charset="0"/>
                <a:cs typeface="Calibri" panose="020F0502020204030204" pitchFamily="34" charset="0"/>
              </a:rPr>
              <a:t>Direct optimization of hydrodynamic damping using irregular wave data significantly improve the low frequency response with a minor effect on wave frequency response. This automatic tuning using GA perform better tuning the quadratic and linear damping, simultaneously.  </a:t>
            </a:r>
          </a:p>
        </p:txBody>
      </p:sp>
      <p:sp>
        <p:nvSpPr>
          <p:cNvPr id="53" name="TextBox 52">
            <a:extLst>
              <a:ext uri="{FF2B5EF4-FFF2-40B4-BE49-F238E27FC236}">
                <a16:creationId xmlns:a16="http://schemas.microsoft.com/office/drawing/2014/main" id="{CDCDD4BF-BD9B-B476-2E11-FFA8BA16DFBF}"/>
              </a:ext>
            </a:extLst>
          </p:cNvPr>
          <p:cNvSpPr txBox="1"/>
          <p:nvPr/>
        </p:nvSpPr>
        <p:spPr>
          <a:xfrm>
            <a:off x="13674406" y="10937574"/>
            <a:ext cx="4221708" cy="477054"/>
          </a:xfrm>
          <a:prstGeom prst="rect">
            <a:avLst/>
          </a:prstGeom>
          <a:noFill/>
        </p:spPr>
        <p:txBody>
          <a:bodyPr wrap="square" rtlCol="0">
            <a:spAutoFit/>
          </a:bodyPr>
          <a:lstStyle/>
          <a:p>
            <a:r>
              <a:rPr lang="en-US" sz="2500" b="1" dirty="0">
                <a:latin typeface="Calibri" panose="020F0502020204030204" pitchFamily="34" charset="0"/>
                <a:ea typeface="Calibri" panose="020F0502020204030204" pitchFamily="34" charset="0"/>
                <a:cs typeface="Calibri" panose="020F0502020204030204" pitchFamily="34" charset="0"/>
              </a:rPr>
              <a:t>GA Hyperparameter setting</a:t>
            </a:r>
          </a:p>
        </p:txBody>
      </p:sp>
      <p:sp>
        <p:nvSpPr>
          <p:cNvPr id="54" name="TextBox 53">
            <a:extLst>
              <a:ext uri="{FF2B5EF4-FFF2-40B4-BE49-F238E27FC236}">
                <a16:creationId xmlns:a16="http://schemas.microsoft.com/office/drawing/2014/main" id="{5164AC94-48AF-1D17-67E9-2973AB4F3CDB}"/>
              </a:ext>
            </a:extLst>
          </p:cNvPr>
          <p:cNvSpPr txBox="1"/>
          <p:nvPr/>
        </p:nvSpPr>
        <p:spPr>
          <a:xfrm>
            <a:off x="13674406" y="11447285"/>
            <a:ext cx="9871394" cy="861774"/>
          </a:xfrm>
          <a:prstGeom prst="rect">
            <a:avLst/>
          </a:prstGeom>
          <a:noFill/>
        </p:spPr>
        <p:txBody>
          <a:bodyPr wrap="square" rtlCol="0">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Population size = 30,  Max generation = 50, Crossover Fraction = 0.7; </a:t>
            </a:r>
          </a:p>
          <a:p>
            <a:r>
              <a:rPr lang="en-US" sz="2500" dirty="0">
                <a:latin typeface="Calibri" panose="020F0502020204030204" pitchFamily="34" charset="0"/>
                <a:ea typeface="Calibri" panose="020F0502020204030204" pitchFamily="34" charset="0"/>
                <a:cs typeface="Calibri" panose="020F0502020204030204" pitchFamily="34" charset="0"/>
              </a:rPr>
              <a:t>Elite Count = 0.1xPoputation Size, Mutation rate = 0.01</a:t>
            </a:r>
          </a:p>
        </p:txBody>
      </p:sp>
      <p:pic>
        <p:nvPicPr>
          <p:cNvPr id="56" name="Picture 55" descr="A comparison of a graph&#10;&#10;AI-generated content may be incorrect.">
            <a:extLst>
              <a:ext uri="{FF2B5EF4-FFF2-40B4-BE49-F238E27FC236}">
                <a16:creationId xmlns:a16="http://schemas.microsoft.com/office/drawing/2014/main" id="{1D583DB9-5217-444E-DB34-EF52B4383642}"/>
              </a:ext>
            </a:extLst>
          </p:cNvPr>
          <p:cNvPicPr>
            <a:picLocks noChangeAspect="1"/>
          </p:cNvPicPr>
          <p:nvPr/>
        </p:nvPicPr>
        <p:blipFill>
          <a:blip r:embed="rId19">
            <a:extLst>
              <a:ext uri="{28A0092B-C50C-407E-A947-70E740481C1C}">
                <a14:useLocalDpi xmlns:a14="http://schemas.microsoft.com/office/drawing/2010/main" val="0"/>
              </a:ext>
            </a:extLst>
          </a:blip>
          <a:srcRect l="8042" r="5019"/>
          <a:stretch/>
        </p:blipFill>
        <p:spPr>
          <a:xfrm>
            <a:off x="29306292" y="4127094"/>
            <a:ext cx="9248269" cy="2881751"/>
          </a:xfrm>
          <a:prstGeom prst="rect">
            <a:avLst/>
          </a:prstGeom>
        </p:spPr>
      </p:pic>
      <p:sp>
        <p:nvSpPr>
          <p:cNvPr id="57" name="TextBox 56">
            <a:extLst>
              <a:ext uri="{FF2B5EF4-FFF2-40B4-BE49-F238E27FC236}">
                <a16:creationId xmlns:a16="http://schemas.microsoft.com/office/drawing/2014/main" id="{78517185-545F-4578-56F7-530F2F7B7D36}"/>
              </a:ext>
            </a:extLst>
          </p:cNvPr>
          <p:cNvSpPr txBox="1"/>
          <p:nvPr/>
        </p:nvSpPr>
        <p:spPr>
          <a:xfrm>
            <a:off x="13812877" y="30274634"/>
            <a:ext cx="7243649" cy="2400657"/>
          </a:xfrm>
          <a:prstGeom prst="rect">
            <a:avLst/>
          </a:prstGeom>
          <a:noFill/>
        </p:spPr>
        <p:txBody>
          <a:bodyPr wrap="square" rtlCol="0">
            <a:spAutoFit/>
          </a:bodyPr>
          <a:lstStyle/>
          <a:p>
            <a:pPr marL="342900" indent="-342900" algn="just">
              <a:buFont typeface="Arial" panose="020B0604020202020204" pitchFamily="34" charset="0"/>
              <a:buChar char="•"/>
            </a:pPr>
            <a:r>
              <a:rPr lang="en-US" sz="2500" dirty="0">
                <a:latin typeface="Calibri" panose="020F0502020204030204" pitchFamily="34" charset="0"/>
                <a:ea typeface="Calibri" panose="020F0502020204030204" pitchFamily="34" charset="0"/>
                <a:cs typeface="Calibri" panose="020F0502020204030204" pitchFamily="34" charset="0"/>
              </a:rPr>
              <a:t>Minimizing the error between reference (</a:t>
            </a:r>
            <a:r>
              <a:rPr lang="en-US" sz="2500" dirty="0" err="1">
                <a:latin typeface="Calibri" panose="020F0502020204030204" pitchFamily="34" charset="0"/>
                <a:ea typeface="Calibri" panose="020F0502020204030204" pitchFamily="34" charset="0"/>
                <a:cs typeface="Calibri" panose="020F0502020204030204" pitchFamily="34" charset="0"/>
              </a:rPr>
              <a:t>OpenFAST</a:t>
            </a:r>
            <a:r>
              <a:rPr lang="en-US" sz="2500" dirty="0">
                <a:latin typeface="Calibri" panose="020F0502020204030204" pitchFamily="34" charset="0"/>
                <a:ea typeface="Calibri" panose="020F0502020204030204" pitchFamily="34" charset="0"/>
                <a:cs typeface="Calibri" panose="020F0502020204030204" pitchFamily="34" charset="0"/>
              </a:rPr>
              <a:t>) and iterative simulation data, GA optimize the hydrodynamic coefficient leading the excellent agreement in natural model and with a small discrepancy in linear and quadratic damping contribution.</a:t>
            </a:r>
          </a:p>
        </p:txBody>
      </p:sp>
      <p:cxnSp>
        <p:nvCxnSpPr>
          <p:cNvPr id="59" name="Straight Connector 58">
            <a:extLst>
              <a:ext uri="{FF2B5EF4-FFF2-40B4-BE49-F238E27FC236}">
                <a16:creationId xmlns:a16="http://schemas.microsoft.com/office/drawing/2014/main" id="{F129BA72-AA78-1A40-3252-1F4016AF2D20}"/>
              </a:ext>
            </a:extLst>
          </p:cNvPr>
          <p:cNvCxnSpPr/>
          <p:nvPr/>
        </p:nvCxnSpPr>
        <p:spPr>
          <a:xfrm>
            <a:off x="29188609" y="7296890"/>
            <a:ext cx="14448268"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4AEA830F-7BAC-AB4F-9E2B-DA12C4679D59}"/>
                  </a:ext>
                </a:extLst>
              </p:cNvPr>
              <p:cNvSpPr txBox="1"/>
              <p:nvPr/>
            </p:nvSpPr>
            <p:spPr>
              <a:xfrm>
                <a:off x="21680129" y="24011870"/>
                <a:ext cx="6666271" cy="891462"/>
              </a:xfrm>
              <a:prstGeom prst="rect">
                <a:avLst/>
              </a:prstGeom>
              <a:noFill/>
            </p:spPr>
            <p:txBody>
              <a:bodyPr wrap="square" rtlCol="0">
                <a:spAutoFit/>
              </a:bodyPr>
              <a:lstStyle/>
              <a:p>
                <a:pPr algn="ctr"/>
                <a:r>
                  <a:rPr lang="en-US" sz="2500" dirty="0">
                    <a:latin typeface="Calibri" panose="020F0502020204030204" pitchFamily="34" charset="0"/>
                    <a:ea typeface="Calibri" panose="020F0502020204030204" pitchFamily="34" charset="0"/>
                    <a:cs typeface="Calibri" panose="020F0502020204030204" pitchFamily="34" charset="0"/>
                  </a:rPr>
                  <a:t>Irregular Wave</a:t>
                </a:r>
              </a:p>
              <a:p>
                <a:pPr algn="ct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𝐻</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𝑠</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=9.14 </m:t>
                      </m:r>
                      <m:r>
                        <a:rPr lang="en-US" sz="2500" b="0" i="1" smtClean="0">
                          <a:latin typeface="Cambria Math" panose="02040503050406030204" pitchFamily="18" charset="0"/>
                          <a:ea typeface="Calibri" panose="020F0502020204030204" pitchFamily="34" charset="0"/>
                          <a:cs typeface="Calibri" panose="020F0502020204030204" pitchFamily="34" charset="0"/>
                        </a:rPr>
                        <m:t>𝑚</m:t>
                      </m:r>
                      <m:r>
                        <a:rPr lang="en-US" sz="2500" b="0" i="1"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500" b="0" i="1" smtClean="0">
                              <a:latin typeface="Cambria Math" panose="02040503050406030204" pitchFamily="18" charset="0"/>
                              <a:ea typeface="Calibri" panose="020F0502020204030204" pitchFamily="34" charset="0"/>
                              <a:cs typeface="Calibri" panose="020F0502020204030204" pitchFamily="34" charset="0"/>
                            </a:rPr>
                            <m:t>   </m:t>
                          </m:r>
                          <m:r>
                            <a:rPr lang="en-US" sz="2500" b="0" i="1" smtClean="0">
                              <a:latin typeface="Cambria Math" panose="02040503050406030204" pitchFamily="18" charset="0"/>
                              <a:ea typeface="Calibri" panose="020F0502020204030204" pitchFamily="34" charset="0"/>
                              <a:cs typeface="Calibri" panose="020F0502020204030204" pitchFamily="34" charset="0"/>
                            </a:rPr>
                            <m:t>𝑇</m:t>
                          </m:r>
                        </m:e>
                        <m:sub>
                          <m:r>
                            <a:rPr lang="en-US" sz="2500" b="0" i="1" smtClean="0">
                              <a:latin typeface="Cambria Math" panose="02040503050406030204" pitchFamily="18" charset="0"/>
                              <a:ea typeface="Calibri" panose="020F0502020204030204" pitchFamily="34" charset="0"/>
                              <a:cs typeface="Calibri" panose="020F0502020204030204" pitchFamily="34" charset="0"/>
                            </a:rPr>
                            <m:t>𝑝</m:t>
                          </m:r>
                        </m:sub>
                      </m:sSub>
                      <m:r>
                        <a:rPr lang="en-US" sz="2500" b="0" i="1" smtClean="0">
                          <a:latin typeface="Cambria Math" panose="02040503050406030204" pitchFamily="18" charset="0"/>
                          <a:ea typeface="Calibri" panose="020F0502020204030204" pitchFamily="34" charset="0"/>
                          <a:cs typeface="Calibri" panose="020F0502020204030204" pitchFamily="34" charset="0"/>
                        </a:rPr>
                        <m:t>=13.6</m:t>
                      </m:r>
                      <m:func>
                        <m:funcPr>
                          <m:ctrlPr>
                            <a:rPr lang="en-US" sz="2500" b="0" i="1" smtClean="0">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US" sz="2500" b="0" i="0" smtClean="0">
                              <a:latin typeface="Cambria Math" panose="02040503050406030204" pitchFamily="18" charset="0"/>
                              <a:ea typeface="Calibri" panose="020F0502020204030204" pitchFamily="34" charset="0"/>
                              <a:cs typeface="Calibri" panose="020F0502020204030204" pitchFamily="34" charset="0"/>
                            </a:rPr>
                            <m:t>sec</m:t>
                          </m:r>
                        </m:fName>
                        <m:e>
                          <m:r>
                            <a:rPr lang="en-US" sz="2500" b="0" i="1" smtClean="0">
                              <a:latin typeface="Cambria Math" panose="02040503050406030204" pitchFamily="18" charset="0"/>
                              <a:ea typeface="Calibri" panose="020F0502020204030204" pitchFamily="34" charset="0"/>
                              <a:cs typeface="Calibri" panose="020F0502020204030204" pitchFamily="34" charset="0"/>
                            </a:rPr>
                            <m:t>, </m:t>
                          </m:r>
                        </m:e>
                      </m:func>
                      <m:r>
                        <a:rPr lang="en-US" sz="2500" b="0" i="1" smtClean="0">
                          <a:latin typeface="Cambria Math" panose="02040503050406030204" pitchFamily="18" charset="0"/>
                          <a:ea typeface="Calibri" panose="020F0502020204030204" pitchFamily="34" charset="0"/>
                          <a:cs typeface="Calibri" panose="020F0502020204030204" pitchFamily="34" charset="0"/>
                        </a:rPr>
                        <m:t>𝛽</m:t>
                      </m:r>
                      <m:r>
                        <a:rPr lang="en-US" sz="2500" b="0" i="1" smtClean="0">
                          <a:latin typeface="Cambria Math" panose="02040503050406030204" pitchFamily="18" charset="0"/>
                          <a:ea typeface="Calibri" panose="020F0502020204030204" pitchFamily="34" charset="0"/>
                          <a:cs typeface="Calibri" panose="020F0502020204030204" pitchFamily="34" charset="0"/>
                        </a:rPr>
                        <m:t>=0 </m:t>
                      </m:r>
                      <m:r>
                        <a:rPr lang="en-US" sz="2500" b="0" i="1" smtClean="0">
                          <a:latin typeface="Cambria Math" panose="02040503050406030204" pitchFamily="18" charset="0"/>
                          <a:ea typeface="Calibri" panose="020F0502020204030204" pitchFamily="34" charset="0"/>
                          <a:cs typeface="Calibri" panose="020F0502020204030204" pitchFamily="34" charset="0"/>
                        </a:rPr>
                        <m:t>𝑑𝑒𝑔</m:t>
                      </m:r>
                    </m:oMath>
                  </m:oMathPara>
                </a14:m>
                <a:endParaRPr lang="en-US" sz="25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0" name="TextBox 59">
                <a:extLst>
                  <a:ext uri="{FF2B5EF4-FFF2-40B4-BE49-F238E27FC236}">
                    <a16:creationId xmlns:a16="http://schemas.microsoft.com/office/drawing/2014/main" id="{4AEA830F-7BAC-AB4F-9E2B-DA12C4679D59}"/>
                  </a:ext>
                </a:extLst>
              </p:cNvPr>
              <p:cNvSpPr txBox="1">
                <a:spLocks noRot="1" noChangeAspect="1" noMove="1" noResize="1" noEditPoints="1" noAdjustHandles="1" noChangeArrowheads="1" noChangeShapeType="1" noTextEdit="1"/>
              </p:cNvSpPr>
              <p:nvPr/>
            </p:nvSpPr>
            <p:spPr>
              <a:xfrm>
                <a:off x="21680129" y="24011870"/>
                <a:ext cx="6666271" cy="891462"/>
              </a:xfrm>
              <a:prstGeom prst="rect">
                <a:avLst/>
              </a:prstGeom>
              <a:blipFill>
                <a:blip r:embed="rId20"/>
                <a:stretch>
                  <a:fillRect t="-5479" b="-5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31D9CCCD-2835-869D-BF46-011204D21AD5}"/>
                  </a:ext>
                </a:extLst>
              </p:cNvPr>
              <p:cNvSpPr txBox="1"/>
              <p:nvPr/>
            </p:nvSpPr>
            <p:spPr>
              <a:xfrm>
                <a:off x="29306292" y="7869125"/>
                <a:ext cx="14151513" cy="861774"/>
              </a:xfrm>
              <a:prstGeom prst="rect">
                <a:avLst/>
              </a:prstGeom>
              <a:noFill/>
            </p:spPr>
            <p:txBody>
              <a:bodyPr wrap="square" rtlCol="0">
                <a:spAutoFit/>
              </a:bodyPr>
              <a:lstStyle/>
              <a:p>
                <a:pPr algn="just"/>
                <a:r>
                  <a:rPr lang="en-US" sz="2500" dirty="0">
                    <a:latin typeface="Calibri" panose="020F0502020204030204" pitchFamily="34" charset="0"/>
                    <a:ea typeface="Calibri" panose="020F0502020204030204" pitchFamily="34" charset="0"/>
                    <a:cs typeface="Calibri" panose="020F0502020204030204" pitchFamily="34" charset="0"/>
                  </a:rPr>
                  <a:t>In contrast to spar platform, semi-submersible requires multiple component specific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𝐶</m:t>
                        </m:r>
                      </m:e>
                      <m:sub>
                        <m:r>
                          <a:rPr lang="en-US" sz="2500" b="0" i="1" smtClean="0">
                            <a:latin typeface="Cambria Math" panose="02040503050406030204" pitchFamily="18" charset="0"/>
                          </a:rPr>
                          <m:t>𝑎</m:t>
                        </m:r>
                      </m:sub>
                    </m:sSub>
                  </m:oMath>
                </a14:m>
                <a:r>
                  <a:rPr lang="en-US" sz="25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𝐶</m:t>
                        </m:r>
                      </m:e>
                      <m:sub>
                        <m:r>
                          <a:rPr lang="en-US" sz="2500" b="0" i="1" smtClean="0">
                            <a:latin typeface="Cambria Math" panose="02040503050406030204" pitchFamily="18" charset="0"/>
                          </a:rPr>
                          <m:t>𝑑</m:t>
                        </m:r>
                      </m:sub>
                    </m:sSub>
                    <m:r>
                      <a:rPr lang="en-US" sz="2500" b="0" i="1" smtClean="0">
                        <a:latin typeface="Cambria Math" panose="02040503050406030204" pitchFamily="18" charset="0"/>
                      </a:rPr>
                      <m:t> </m:t>
                    </m:r>
                  </m:oMath>
                </a14:m>
                <a:r>
                  <a:rPr lang="en-US" sz="2500" dirty="0">
                    <a:latin typeface="Calibri" panose="020F0502020204030204" pitchFamily="34" charset="0"/>
                    <a:ea typeface="Calibri" panose="020F0502020204030204" pitchFamily="34" charset="0"/>
                    <a:cs typeface="Calibri" panose="020F0502020204030204" pitchFamily="34" charset="0"/>
                  </a:rPr>
                  <a:t>in addition to the global linear damping. </a:t>
                </a:r>
                <a14:m>
                  <m:oMath xmlns:m="http://schemas.openxmlformats.org/officeDocument/2006/math">
                    <m:r>
                      <a:rPr lang="en-US" sz="2500" b="0" i="1" smtClean="0">
                        <a:latin typeface="Cambria Math" panose="02040503050406030204" pitchFamily="18" charset="0"/>
                      </a:rPr>
                      <m:t>𝐵</m:t>
                    </m:r>
                  </m:oMath>
                </a14:m>
                <a:r>
                  <a:rPr lang="en-US" sz="2500"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61" name="TextBox 60">
                <a:extLst>
                  <a:ext uri="{FF2B5EF4-FFF2-40B4-BE49-F238E27FC236}">
                    <a16:creationId xmlns:a16="http://schemas.microsoft.com/office/drawing/2014/main" id="{31D9CCCD-2835-869D-BF46-011204D21AD5}"/>
                  </a:ext>
                </a:extLst>
              </p:cNvPr>
              <p:cNvSpPr txBox="1">
                <a:spLocks noRot="1" noChangeAspect="1" noMove="1" noResize="1" noEditPoints="1" noAdjustHandles="1" noChangeArrowheads="1" noChangeShapeType="1" noTextEdit="1"/>
              </p:cNvSpPr>
              <p:nvPr/>
            </p:nvSpPr>
            <p:spPr>
              <a:xfrm>
                <a:off x="29306292" y="7869125"/>
                <a:ext cx="14151513" cy="861774"/>
              </a:xfrm>
              <a:prstGeom prst="rect">
                <a:avLst/>
              </a:prstGeom>
              <a:blipFill>
                <a:blip r:embed="rId21"/>
                <a:stretch>
                  <a:fillRect l="-689" t="-5674" r="-689" b="-16312"/>
                </a:stretch>
              </a:blipFill>
            </p:spPr>
            <p:txBody>
              <a:bodyPr/>
              <a:lstStyle/>
              <a:p>
                <a:r>
                  <a:rPr lang="en-US">
                    <a:noFill/>
                  </a:rPr>
                  <a:t> </a:t>
                </a:r>
              </a:p>
            </p:txBody>
          </p:sp>
        </mc:Fallback>
      </mc:AlternateContent>
      <p:pic>
        <p:nvPicPr>
          <p:cNvPr id="63" name="Picture 62" descr="A group of graphs with different colors&#10;&#10;AI-generated content may be incorrect.">
            <a:extLst>
              <a:ext uri="{FF2B5EF4-FFF2-40B4-BE49-F238E27FC236}">
                <a16:creationId xmlns:a16="http://schemas.microsoft.com/office/drawing/2014/main" id="{0B1BAB06-B4B8-3BE9-C547-D2A29F6C7D36}"/>
              </a:ext>
            </a:extLst>
          </p:cNvPr>
          <p:cNvPicPr>
            <a:picLocks noChangeAspect="1"/>
          </p:cNvPicPr>
          <p:nvPr/>
        </p:nvPicPr>
        <p:blipFill>
          <a:blip r:embed="rId22">
            <a:extLst>
              <a:ext uri="{28A0092B-C50C-407E-A947-70E740481C1C}">
                <a14:useLocalDpi xmlns:a14="http://schemas.microsoft.com/office/drawing/2010/main" val="0"/>
              </a:ext>
            </a:extLst>
          </a:blip>
          <a:srcRect l="7237" r="6930"/>
          <a:stretch/>
        </p:blipFill>
        <p:spPr>
          <a:xfrm>
            <a:off x="29338922" y="8724704"/>
            <a:ext cx="9912194" cy="5744066"/>
          </a:xfrm>
          <a:prstGeom prst="rect">
            <a:avLst/>
          </a:prstGeom>
        </p:spPr>
      </p:pic>
      <p:pic>
        <p:nvPicPr>
          <p:cNvPr id="65" name="Picture 64" descr="A graph of a graph&#10;&#10;AI-generated content may be incorrect.">
            <a:extLst>
              <a:ext uri="{FF2B5EF4-FFF2-40B4-BE49-F238E27FC236}">
                <a16:creationId xmlns:a16="http://schemas.microsoft.com/office/drawing/2014/main" id="{FB081FCE-C7D8-0A73-75A7-36E30A2D0C4A}"/>
              </a:ext>
            </a:extLst>
          </p:cNvPr>
          <p:cNvPicPr>
            <a:picLocks noChangeAspect="1"/>
          </p:cNvPicPr>
          <p:nvPr/>
        </p:nvPicPr>
        <p:blipFill>
          <a:blip r:embed="rId23">
            <a:extLst>
              <a:ext uri="{28A0092B-C50C-407E-A947-70E740481C1C}">
                <a14:useLocalDpi xmlns:a14="http://schemas.microsoft.com/office/drawing/2010/main" val="0"/>
              </a:ext>
            </a:extLst>
          </a:blip>
          <a:srcRect l="9085" r="5279"/>
          <a:stretch/>
        </p:blipFill>
        <p:spPr>
          <a:xfrm>
            <a:off x="29338922" y="14861692"/>
            <a:ext cx="12005188" cy="3095238"/>
          </a:xfrm>
          <a:prstGeom prst="rect">
            <a:avLst/>
          </a:prstGeom>
        </p:spPr>
      </p:pic>
      <p:sp>
        <p:nvSpPr>
          <p:cNvPr id="66" name="TextBox 65">
            <a:extLst>
              <a:ext uri="{FF2B5EF4-FFF2-40B4-BE49-F238E27FC236}">
                <a16:creationId xmlns:a16="http://schemas.microsoft.com/office/drawing/2014/main" id="{BAC5BFB2-6059-252B-830D-BBD3712C7F4C}"/>
              </a:ext>
            </a:extLst>
          </p:cNvPr>
          <p:cNvSpPr txBox="1"/>
          <p:nvPr/>
        </p:nvSpPr>
        <p:spPr>
          <a:xfrm>
            <a:off x="39397021" y="8739737"/>
            <a:ext cx="3968885" cy="5478423"/>
          </a:xfrm>
          <a:prstGeom prst="rect">
            <a:avLst/>
          </a:prstGeom>
          <a:noFill/>
        </p:spPr>
        <p:txBody>
          <a:bodyPr wrap="square" rtlCol="0">
            <a:spAutoFit/>
          </a:bodyPr>
          <a:lstStyle/>
          <a:p>
            <a:r>
              <a:rPr lang="en-US" sz="2500" dirty="0">
                <a:latin typeface="Calibri" panose="020F0502020204030204" pitchFamily="34" charset="0"/>
                <a:ea typeface="Calibri" panose="020F0502020204030204" pitchFamily="34" charset="0"/>
                <a:cs typeface="Calibri" panose="020F0502020204030204" pitchFamily="34" charset="0"/>
              </a:rPr>
              <a:t>Direct optimization using irregular wave significantly improve low frequency response of surge and heave. However, a significant deviation resulted in heave response, indicating, single objective optimization potentially compromise with one response while prioritizing other response. As the single objective, combine all the error into a single value to be minimized.   </a:t>
            </a:r>
          </a:p>
        </p:txBody>
      </p:sp>
      <p:sp>
        <p:nvSpPr>
          <p:cNvPr id="67" name="TextBox 66">
            <a:extLst>
              <a:ext uri="{FF2B5EF4-FFF2-40B4-BE49-F238E27FC236}">
                <a16:creationId xmlns:a16="http://schemas.microsoft.com/office/drawing/2014/main" id="{9F1A94AC-6CCD-0E2E-F8F3-DD484D0785B6}"/>
              </a:ext>
            </a:extLst>
          </p:cNvPr>
          <p:cNvSpPr txBox="1"/>
          <p:nvPr/>
        </p:nvSpPr>
        <p:spPr>
          <a:xfrm>
            <a:off x="29338922" y="27851709"/>
            <a:ext cx="14314407" cy="4708981"/>
          </a:xfrm>
          <a:prstGeom prst="rect">
            <a:avLst/>
          </a:prstGeom>
          <a:noFill/>
        </p:spPr>
        <p:txBody>
          <a:bodyPr wrap="square" rtlCol="0">
            <a:spAutoFit/>
          </a:bodyPr>
          <a:lstStyle/>
          <a:p>
            <a:pPr algn="just"/>
            <a:r>
              <a:rPr lang="en-US" sz="2500" dirty="0">
                <a:latin typeface="Calibri" panose="020F0502020204030204" pitchFamily="34" charset="0"/>
                <a:ea typeface="Calibri" panose="020F0502020204030204" pitchFamily="34" charset="0"/>
                <a:cs typeface="Calibri" panose="020F0502020204030204" pitchFamily="34" charset="0"/>
              </a:rPr>
              <a:t>[1] </a:t>
            </a:r>
            <a:r>
              <a:rPr lang="en-US" sz="25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Allen, C., </a:t>
            </a:r>
            <a:r>
              <a:rPr lang="en-US" sz="2500" b="0" i="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Viscelli</a:t>
            </a:r>
            <a:r>
              <a:rPr lang="en-US" sz="25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A., Dagher, H., </a:t>
            </a:r>
            <a:r>
              <a:rPr lang="en-US" sz="2500" b="0" i="0"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Goupee</a:t>
            </a:r>
            <a:r>
              <a:rPr lang="en-US" sz="25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A., Gaertner, E., Abbas, N., ... &amp; Barter, G. (2020). </a:t>
            </a:r>
            <a:r>
              <a:rPr lang="en-US" sz="2500" b="0" i="1"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Definition of the UMaine </a:t>
            </a:r>
            <a:r>
              <a:rPr lang="en-US" sz="2500" b="0" i="1" dirty="0" err="1">
                <a:solidFill>
                  <a:srgbClr val="222222"/>
                </a:solidFill>
                <a:effectLst/>
                <a:latin typeface="Calibri" panose="020F0502020204030204" pitchFamily="34" charset="0"/>
                <a:ea typeface="Calibri" panose="020F0502020204030204" pitchFamily="34" charset="0"/>
                <a:cs typeface="Calibri" panose="020F0502020204030204" pitchFamily="34" charset="0"/>
              </a:rPr>
              <a:t>VolturnUS</a:t>
            </a:r>
            <a:r>
              <a:rPr lang="en-US" sz="2500" b="0" i="1"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-S reference platform developed for the IEA wind 15-megawatt offshore reference wind turbine</a:t>
            </a:r>
            <a:r>
              <a:rPr lang="en-US" sz="25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 (No. NREL/TP-5000-76773). National Renewable Energy Lab.(NREL), Golden, CO (United States); Univ. of Maine, Orono, ME (United States).</a:t>
            </a:r>
          </a:p>
          <a:p>
            <a:pPr algn="just"/>
            <a:r>
              <a:rPr lang="en-US" sz="2500" dirty="0">
                <a:solidFill>
                  <a:srgbClr val="222222"/>
                </a:solidFill>
                <a:latin typeface="Calibri" panose="020F0502020204030204" pitchFamily="34" charset="0"/>
                <a:ea typeface="Calibri" panose="020F0502020204030204" pitchFamily="34" charset="0"/>
                <a:cs typeface="Calibri" panose="020F0502020204030204" pitchFamily="34" charset="0"/>
              </a:rPr>
              <a:t>[2] Jonkman, J. (2010). Definition of the Floating System for Phase IV of OC3 (No. NREL/TP-500-47535). National Renewable Energy Lab.(NREL), Golden, CO (United States).</a:t>
            </a:r>
          </a:p>
          <a:p>
            <a:pPr algn="just"/>
            <a:r>
              <a:rPr lang="en-US" sz="2500" dirty="0">
                <a:solidFill>
                  <a:srgbClr val="222222"/>
                </a:solidFill>
                <a:latin typeface="Calibri" panose="020F0502020204030204" pitchFamily="34" charset="0"/>
                <a:ea typeface="Calibri" panose="020F0502020204030204" pitchFamily="34" charset="0"/>
                <a:cs typeface="Calibri" panose="020F0502020204030204" pitchFamily="34" charset="0"/>
              </a:rPr>
              <a:t>[3] Sarker, D., Hasan, T., Ngo, T., &amp; Das, T. (2024). Causality-Free Modeling and Validation of a Semisubmersible Floating Offshore Wind Turbine Platform With Tuned Mass Dampers. IEEE Journal of Oceanic Engineering, 49(4), 1430-1454.</a:t>
            </a:r>
          </a:p>
          <a:p>
            <a:pPr algn="just"/>
            <a:r>
              <a:rPr lang="en-US" sz="2500" dirty="0">
                <a:solidFill>
                  <a:srgbClr val="222222"/>
                </a:solidFill>
                <a:latin typeface="Calibri" panose="020F0502020204030204" pitchFamily="34" charset="0"/>
                <a:ea typeface="Calibri" panose="020F0502020204030204" pitchFamily="34" charset="0"/>
                <a:cs typeface="Calibri" panose="020F0502020204030204" pitchFamily="34" charset="0"/>
              </a:rPr>
              <a:t>[4] Martins, J. R., &amp; Ning, A. (2021). Engineering design optimization. Cambridge University Press.</a:t>
            </a:r>
          </a:p>
          <a:p>
            <a:pPr algn="just"/>
            <a:r>
              <a:rPr lang="en-US" sz="2500" dirty="0">
                <a:solidFill>
                  <a:srgbClr val="222222"/>
                </a:solidFill>
                <a:latin typeface="Calibri" panose="020F0502020204030204" pitchFamily="34" charset="0"/>
                <a:ea typeface="Calibri" panose="020F0502020204030204" pitchFamily="34" charset="0"/>
                <a:cs typeface="Calibri" panose="020F0502020204030204" pitchFamily="34" charset="0"/>
              </a:rPr>
              <a:t>[5] Program description “Aerodynamic Turbines Lighter and Afloat with Nautical Technologies and Integrated Servo-control”, url: </a:t>
            </a:r>
            <a:r>
              <a:rPr lang="en-US" sz="2500" dirty="0">
                <a:solidFill>
                  <a:srgbClr val="222222"/>
                </a:solidFill>
                <a:latin typeface="Calibri" panose="020F0502020204030204" pitchFamily="34" charset="0"/>
                <a:ea typeface="Calibri" panose="020F0502020204030204" pitchFamily="34" charset="0"/>
                <a:cs typeface="Calibri" panose="020F0502020204030204" pitchFamily="34" charset="0"/>
                <a:hlinkClick r:id="rId24"/>
              </a:rPr>
              <a:t>https://arpa-e.energy.gov/programs-and-initiatives/view-all-programs/atlantis</a:t>
            </a:r>
            <a:endParaRPr lang="en-US" sz="2500" dirty="0">
              <a:solidFill>
                <a:srgbClr val="222222"/>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Home - College of Engineering and Computer Science">
            <a:extLst>
              <a:ext uri="{FF2B5EF4-FFF2-40B4-BE49-F238E27FC236}">
                <a16:creationId xmlns:a16="http://schemas.microsoft.com/office/drawing/2014/main" id="{BB3A7CA6-69E2-F701-BDC1-A27E57F73B6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5566789" y="80756"/>
            <a:ext cx="8043415" cy="19260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CF Department of Mechanical and Aerospace Engineering">
            <a:extLst>
              <a:ext uri="{FF2B5EF4-FFF2-40B4-BE49-F238E27FC236}">
                <a16:creationId xmlns:a16="http://schemas.microsoft.com/office/drawing/2014/main" id="{E525C63E-CA96-A943-FB04-1E96CA0D8D3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807038" y="2082711"/>
            <a:ext cx="7888219" cy="1594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877552"/>
      </p:ext>
    </p:extLst>
  </p:cSld>
  <p:clrMapOvr>
    <a:masterClrMapping/>
  </p:clrMapOvr>
  <mc:AlternateContent xmlns:mc="http://schemas.openxmlformats.org/markup-compatibility/2006">
    <mc:Choice xmlns:p14="http://schemas.microsoft.com/office/powerpoint/2010/main" Requires="p14">
      <p:transition spd="slow" p14:dur="2000" advTm="304074"/>
    </mc:Choice>
    <mc:Fallback>
      <p:transition spd="slow" advTm="304074"/>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1542</TotalTime>
  <Words>1475</Words>
  <Application>Microsoft Office PowerPoint</Application>
  <PresentationFormat>Custom</PresentationFormat>
  <Paragraphs>78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Calibri</vt:lpstr>
      <vt:lpstr>Cambria Math</vt:lpstr>
      <vt:lpstr>Wingdings</vt:lpstr>
      <vt:lpstr>Office Theme</vt:lpstr>
      <vt:lpstr>PowerPoint Presentation</vt:lpstr>
    </vt:vector>
  </TitlesOfParts>
  <Company>University of Central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Doyal Kumar Sarker</dc:creator>
  <cp:lastModifiedBy>Doyal Kumar Sarker</cp:lastModifiedBy>
  <cp:revision>23</cp:revision>
  <cp:lastPrinted>2025-03-19T01:06:37Z</cp:lastPrinted>
  <dcterms:created xsi:type="dcterms:W3CDTF">2025-03-16T22:12:42Z</dcterms:created>
  <dcterms:modified xsi:type="dcterms:W3CDTF">2025-03-26T04:11:22Z</dcterms:modified>
</cp:coreProperties>
</file>